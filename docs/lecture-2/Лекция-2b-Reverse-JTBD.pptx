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88920"/>
            <a:ext cx="109728" cy="155448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JetBrains Mono"/>
              </a:rPr>
              <a:t>НЕДЕЛЯ 2 · БЛОК 1 ·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  <a:latin typeface="Geist"/>
              </a:rPr>
              <a:t>Reverse JTBD на реальных продуктах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43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8A5"/>
                </a:solidFill>
                <a:latin typeface="Geist"/>
              </a:rPr>
              <a:t>Восстанавливаем ICP и JTBD успешных AI-продуктов задним числом — чтобы отличать реальную потребность от придуманной.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2648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975"/>
                </a:solidFill>
                <a:latin typeface="JetBrains Mono"/>
              </a:rPr>
              <a:t>w2l2 · 08.09.2026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Зачем разбирать чужое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Проще научиться видеть JTBD там, где продукт уже победил, чем угадывать в своём.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Тренируем глаз — </a:t>
            </a:r>
            <a:r>
              <a:rPr sz="1300" b="0">
                <a:solidFill>
                  <a:srgbClr val="8B98A5"/>
                </a:solidFill>
                <a:latin typeface="Geist"/>
              </a:rPr>
              <a:t>видеть, какую работу продукт реально делает, а не что написано на лендинге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Проверяем свою идею — </a:t>
            </a:r>
            <a:r>
              <a:rPr sz="1300" b="0">
                <a:solidFill>
                  <a:srgbClr val="8B98A5"/>
                </a:solidFill>
                <a:latin typeface="Geist"/>
              </a:rPr>
              <a:t>если у победителей есть паттерн, а у тебя его нет — это сигнал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Отделяем нужное от модного — </a:t>
            </a:r>
            <a:r>
              <a:rPr sz="1300" b="0">
                <a:solidFill>
                  <a:srgbClr val="8B98A5"/>
                </a:solidFill>
                <a:latin typeface="Geist"/>
              </a:rPr>
              <a:t>«AI внутри» ≠ ценность; ценность — в закрытой работе</a:t>
            </a:r>
          </a:p>
          <a:p>
            <a:pPr>
              <a:spcAft>
                <a:spcPts val="14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Метод переносим — </a:t>
            </a:r>
            <a:r>
              <a:rPr sz="1300" b="0">
                <a:solidFill>
                  <a:srgbClr val="8B98A5"/>
                </a:solidFill>
                <a:latin typeface="Geist"/>
              </a:rPr>
              <a:t>тем же приёмом (reverse) разберёшь конкурента своей идеи на неделе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Метод reverse JTBD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Идём от продукта к работе — обратный ход.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852574" cy="118872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3969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Продукт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87168"/>
            <a:ext cx="15782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что делает,
кому продаёт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1214" y="24048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8414" y="2011680"/>
            <a:ext cx="1852574" cy="118872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5574" y="213969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Момент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5574" y="2487168"/>
            <a:ext cx="15782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когда человек
его открывает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0988" y="24048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8188" y="2011680"/>
            <a:ext cx="1852574" cy="118872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5348" y="213969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Замена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5348" y="2487168"/>
            <a:ext cx="15782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что было ДО
него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0763" y="24048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7963" y="2011680"/>
            <a:ext cx="1852574" cy="118872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5123" y="213969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Работа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5123" y="2487168"/>
            <a:ext cx="15782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какую работу
нанимают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0537" y="240487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7737" y="2011680"/>
            <a:ext cx="1852574" cy="118872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4897" y="2139696"/>
            <a:ext cx="157825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Отличие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4897" y="2487168"/>
            <a:ext cx="15782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почему именно
его наняли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566160"/>
            <a:ext cx="11091672" cy="2377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74903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ВОПРОСЫ, КОТОРЫЕ ЗАДАЁМ КАЖДОМУ ПРОДУКТУ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25196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В какой момент жизни человек его открывает? (триггер)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Что он делал ровно до этого продукта? (костыль/конкурент)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Что стало бы, если продукт исчез? (сила работы)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Кейс: Cursor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Reverse: ICP → JTBD → что заменил → чем отличается.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486400" cy="40233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ICP — КОГО НАНЯЛИ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Geist"/>
              </a:rPr>
              <a:t>Разработчик, который пишет код каждый день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ЗАМЕНИЛ (КОСТЫЛЬ ДО)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8A5"/>
                </a:solidFill>
                <a:latin typeface="Geist"/>
              </a:rPr>
              <a:t>IDE + отдельный ChatGPT в браузере (копипаста)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920240"/>
            <a:ext cx="5486400" cy="40233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1214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JTBD — РАБОТА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5603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Geist"/>
              </a:rPr>
              <a:t>«Когда я реализую фичу, я хочу не переключаться на чат, чтобы держать поток и контекст кода»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4160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ПОЧЕМУ НАНЯЛИ ИМЕННО ЕГО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5720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3FB950"/>
                </a:solidFill>
                <a:latin typeface="Geist"/>
              </a:rPr>
              <a:t>AI живёт ВНУТРИ редактора и видит проект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Кейс: Perplexity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Reverse: ICP → JTBD → что заменил → чем отличается.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486400" cy="40233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ICP — КОГО НАНЯЛИ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Geist"/>
              </a:rPr>
              <a:t>Человек с рабочим вопросом, которому нужен ответ с источниками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ЗАМЕНИЛ (КОСТЫЛЬ ДО)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8A5"/>
                </a:solidFill>
                <a:latin typeface="Geist"/>
              </a:rPr>
              <a:t>Google → 10 вкладок → собери сам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920240"/>
            <a:ext cx="5486400" cy="40233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1214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JTBD — РАБОТА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5603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Geist"/>
              </a:rPr>
              <a:t>«Когда мне нужен факт для работы, я хочу ответ со ссылками, чтобы доверять и сослаться»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4160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ПОЧЕМУ НАНЯЛИ ИМЕННО ЕГО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5720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3FB950"/>
                </a:solidFill>
                <a:latin typeface="Geist"/>
              </a:rPr>
              <a:t>Ответ + цитаты сразу, без ручной сборки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Кейс: Granola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Reverse: ICP → JTBD → что заменил → чем отличается.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486400" cy="40233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ICP — КОГО НАНЯЛИ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Geist"/>
              </a:rPr>
              <a:t>Тот, у кого 5 звонков в день и нет времени на конспекты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ЗАМЕНИЛ (КОСТЫЛЬ ДО)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8A5"/>
                </a:solidFill>
                <a:latin typeface="Geist"/>
              </a:rPr>
              <a:t>Печатать во время звонка или забить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920240"/>
            <a:ext cx="5486400" cy="40233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1214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JTBD — РАБОТА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5603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Geist"/>
              </a:rPr>
              <a:t>«Когда у меня встреча, я хочу заметки сами, чтобы участвовать, а не печатать»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4160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ПОЧЕМУ НАНЯЛИ ИМЕННО ЕГО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5720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3FB950"/>
                </a:solidFill>
                <a:latin typeface="Geist"/>
              </a:rPr>
              <a:t>Слушает системный звук, не нужен бот в комнате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Кейс: NotebookLM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Reverse: ICP → JTBD → что заменил → чем отличается.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486400" cy="40233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ICP — КОГО НАНЯЛИ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Geist"/>
              </a:rPr>
              <a:t>Студент/аналитик с кучей своих документов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ЗАМЕНИЛ (КОСТЫЛЬ ДО)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8A5"/>
                </a:solidFill>
                <a:latin typeface="Geist"/>
              </a:rPr>
              <a:t>Ctrl+F по PDF или чтение целиком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920240"/>
            <a:ext cx="5486400" cy="40233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1214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JTBD — РАБОТА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5603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Geist"/>
              </a:rPr>
              <a:t>«Когда у меня 50 страниц, я хочу спросить ИМЕННО их, чтобы не читать всё»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4160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ПОЧЕМУ НАНЯЛИ ИМЕННО ЕГО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5720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3FB950"/>
                </a:solidFill>
                <a:latin typeface="Geist"/>
              </a:rPr>
              <a:t>Отвечает ТОЛЬКО по твоим источникам, с цитатами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Кейс: Replit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Reverse: ICP → JTBD → что заменил → чем отличается.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486400" cy="40233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ICP — КОГО НАНЯЛИ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EDF3"/>
                </a:solidFill>
                <a:latin typeface="Geist"/>
              </a:rPr>
              <a:t>Не-инженер с идеей маленького приложения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ЗАМЕНИЛ (КОСТЫЛЬ ДО)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8A5"/>
                </a:solidFill>
                <a:latin typeface="Geist"/>
              </a:rPr>
              <a:t>Нанять разработчика или бросить идею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920240"/>
            <a:ext cx="5486400" cy="40233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1214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JTBD — РАБОТА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5603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Geist"/>
              </a:rPr>
              <a:t>«Когда мне нужен инструмент, я хочу описать словами, чтобы получить рабочее приложение»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4160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ПОЧЕМУ НАНЯЛИ ИМЕННО ЕГО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5720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3FB950"/>
                </a:solidFill>
                <a:latin typeface="Geist"/>
              </a:rPr>
              <a:t>От промпта до задеплоенного app без setup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Что общего у победителей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Паттерны, которые повторяются во всех 5 кейсах.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Узкий триггер — </a:t>
            </a:r>
            <a:r>
              <a:rPr sz="1300" b="0">
                <a:solidFill>
                  <a:srgbClr val="8B98A5"/>
                </a:solidFill>
                <a:latin typeface="Geist"/>
              </a:rPr>
              <a:t>каждый включается в конкретный момент, а не «вообще для продуктивности»</a:t>
            </a:r>
          </a:p>
          <a:p>
            <a:pPr>
              <a:spcAft>
                <a:spcPts val="13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Убирают шаг, а не добавляют — </a:t>
            </a:r>
            <a:r>
              <a:rPr sz="1300" b="0">
                <a:solidFill>
                  <a:srgbClr val="8B98A5"/>
                </a:solidFill>
                <a:latin typeface="Geist"/>
              </a:rPr>
              <a:t>меньше переключений/копипасты — а не ещё один экран</a:t>
            </a:r>
          </a:p>
          <a:p>
            <a:pPr>
              <a:spcAft>
                <a:spcPts val="13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AI не самоцель — </a:t>
            </a:r>
            <a:r>
              <a:rPr sz="1300" b="0">
                <a:solidFill>
                  <a:srgbClr val="8B98A5"/>
                </a:solidFill>
                <a:latin typeface="Geist"/>
              </a:rPr>
              <a:t>ценность в закрытой работе; модель — способ, не обещание</a:t>
            </a:r>
          </a:p>
          <a:p>
            <a:pPr>
              <a:spcAft>
                <a:spcPts val="13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Доверие встроено — </a:t>
            </a:r>
            <a:r>
              <a:rPr sz="1300" b="0">
                <a:solidFill>
                  <a:srgbClr val="8B98A5"/>
                </a:solidFill>
                <a:latin typeface="Geist"/>
              </a:rPr>
              <a:t>цитаты/источники/«только твои данные» — там, где цена ошибки высока</a:t>
            </a:r>
          </a:p>
          <a:p>
            <a:pPr>
              <a:spcAft>
                <a:spcPts val="13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Заменяют понятный костыль — </a:t>
            </a:r>
            <a:r>
              <a:rPr sz="1300" b="0">
                <a:solidFill>
                  <a:srgbClr val="8B98A5"/>
                </a:solidFill>
                <a:latin typeface="Geist"/>
              </a:rPr>
              <a:t>у каждого есть чёткое «что делали до» — значит, боль реальна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Как разобрать продукт в 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Тот же метод применишь к конкуренту своей идеи на неделе 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86400" cy="3977639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Reverse JTBD чужого продукта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69464"/>
            <a:ext cx="498348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  <a:latin typeface="JetBrains Mono"/>
              </a:rPr>
              <a:t>ape ask "сделай reverse-JTBD для &lt;продукт&gt;: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восстанови ICP (один человек),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JTBD по формуле Когда/Хочу/Чтобы,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что он заменил и чем отличается.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без маркетинга, по фактам о продукте"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профиль ask → DeepSeek, сильнее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в рассуждениях; дёшево на объёме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965960"/>
            <a:ext cx="5486400" cy="3977639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Сравнить со своей идеей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569464"/>
            <a:ext cx="498348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  <a:latin typeface="JetBrains Mono"/>
              </a:rPr>
              <a:t>ape ask "сравни паттерны этих 5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продуктов с моей идеей &lt;строка&gt;.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каких паттернов у меня НЕТ и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чем это грозит?"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/save cloud discovery/reverse-jtbd.md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вывод кладём в research по идее —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пригодится на КТ1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Групповое упражнение + вывод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В группах по 3, 10 минут на продукт.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11091672" cy="17373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НА ПАРЕ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Группа берёт 1 из 5 продуктов и за 10 мин восстанавливает ICP + JTBD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Защищает перед соседней группой; та ищет, где натянуто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11091672" cy="19202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8CFF"/>
                </a:solidFill>
                <a:latin typeface="Geist"/>
              </a:rPr>
              <a:t>Главный вывод недели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Geist"/>
              </a:rPr>
              <a:t>Реальная потребность = есть человек + момент + костыль, который он бросит ради тебя. Нет этой тройки — это придуманная потребность, сколько бы AI туда ни положил.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