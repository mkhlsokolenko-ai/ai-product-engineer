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НЕДЕЛЯ 2 · БЛОК 1 ·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JTBD, ICP и шорт-лист идей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Кому и зачем. Учимся описывать одного конкретного человека и работу, которую он нанимает продукт делать.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w2l1 · 08.09.2026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Что унесёте с пары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Три инструмента, которые нельзя пропустить — на них держится вся дальнейшая работа.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JTBD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сформулировать работу без тавтологии: ситуация → мотивация → результат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ICP — </a:t>
            </a:r>
            <a:r>
              <a:rPr sz="1300" b="0">
                <a:solidFill>
                  <a:srgbClr val="8B98A5"/>
                </a:solidFill>
                <a:latin typeface="Geist"/>
              </a:rPr>
              <a:t>описать ОДНОГО конкретного человека, а не «всех» — на одну страницу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Шорт-лист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свести идеи к 3 и по каждой собрать 3 реальных контакта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Антипаттерны — </a:t>
            </a:r>
            <a:r>
              <a:rPr sz="1300" b="0">
                <a:solidFill>
                  <a:srgbClr val="8B98A5"/>
                </a:solidFill>
                <a:latin typeface="Geist"/>
              </a:rPr>
              <a:t>распознавать «решение в поисках проблемы» и «для всех» до того, как потратил недели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Навык в ape — </a:t>
            </a:r>
            <a:r>
              <a:rPr sz="1300" b="0">
                <a:solidFill>
                  <a:srgbClr val="8B98A5"/>
                </a:solidFill>
                <a:latin typeface="Geist"/>
              </a:rPr>
              <a:t>гонять icp-interviewer и jtbd-formulator через ape ask, а не изобретать формулировки в голове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JTBD: что это и формула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Jobs To Be Done — люди «нанимают» продукт, чтобы сделать работу. Не «функции», а работа.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392424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9397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Geist"/>
              </a:rPr>
              <a:t>Когда я готовлюсь
к защите ночью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41448"/>
            <a:ext cx="31181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B8CFF"/>
                </a:solidFill>
                <a:latin typeface="Geist"/>
              </a:rPr>
              <a:t>Ситуация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1064" y="23820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965960"/>
            <a:ext cx="3392424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09397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Geist"/>
              </a:rPr>
              <a:t>я хочу быстро понять
суть 8 статей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441448"/>
            <a:ext cx="31181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B8CFF"/>
                </a:solidFill>
                <a:latin typeface="Geist"/>
              </a:rPr>
              <a:t>Мотивация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23820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965960"/>
            <a:ext cx="3392424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209397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Geist"/>
              </a:rPr>
              <a:t>чтобы не завалиться
на вопросах утром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441448"/>
            <a:ext cx="31181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B8CFF"/>
                </a:solidFill>
                <a:latin typeface="Geist"/>
              </a:rPr>
              <a:t>Результат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11880"/>
            <a:ext cx="11091672" cy="2377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ПОЧЕМУ ЭТО ВАЖНЕЕ «ФИЧ»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Работа стабильна, решения меняются — </a:t>
            </a:r>
            <a:r>
              <a:rPr sz="1200" b="0">
                <a:solidFill>
                  <a:srgbClr val="8B98A5"/>
                </a:solidFill>
                <a:latin typeface="Geist"/>
              </a:rPr>
              <a:t>люди «нанимали» газеты, потом ленты, потом AI — работа «быть в курсе» та же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Задаёт критерий успеха — </a:t>
            </a:r>
            <a:r>
              <a:rPr sz="1200" b="0">
                <a:solidFill>
                  <a:srgbClr val="8B98A5"/>
                </a:solidFill>
                <a:latin typeface="Geist"/>
              </a:rPr>
              <a:t>если знаешь результат («не завалиться»), знаешь, что мерить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Отсекает выдуманное — </a:t>
            </a:r>
            <a:r>
              <a:rPr sz="1200" b="0">
                <a:solidFill>
                  <a:srgbClr val="8B98A5"/>
                </a:solidFill>
                <a:latin typeface="Geist"/>
              </a:rPr>
              <a:t>нет ситуации и боли → нет работы → нет продукта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JTBD: как правильно и как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Самая частая ошибка — тавтология: работа, которая повторяет фичу.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ХОРОШАЯ ФОРМУЛИРОВКА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«Когда клиент оставил гневный отзыв, я хочу успеть ответить за час, чтобы не потерять репутацию»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Есть триггер (гневный отзыв)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Есть измеримый результат (за час, репутация)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 называет решение — только работу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ТАВТОЛОГИЯ И ВОДА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«Когда мне нужен AI-ассистент, я хочу AI-ассистента, чтобы помогал» — это фича, не работа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Нет триггера — непонятно, когда включается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«Чтобы было удобно» — не измеришь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Решение зашито в формулировку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ICP: идеальный клиент на 1 страницу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Ideal Customer Profile. Правило: не можешь описать одного человека — ICP нет.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852574" cy="11430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Кто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87168"/>
            <a:ext cx="15782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конкретный
человек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1214" y="23820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8414" y="2011680"/>
            <a:ext cx="1852574" cy="11430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5574" y="21396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Триггер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5574" y="2487168"/>
            <a:ext cx="15782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когда
сталкивается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0988" y="23820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8188" y="2011680"/>
            <a:ext cx="1852574" cy="11430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348" y="21396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Костыль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5348" y="2487168"/>
            <a:ext cx="15782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как решает
сейчас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0763" y="23820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7963" y="2011680"/>
            <a:ext cx="1852574" cy="11430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5123" y="21396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Успех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5123" y="2487168"/>
            <a:ext cx="15782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как выглядит
«получилось»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0537" y="23820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7737" y="2011680"/>
            <a:ext cx="1852574" cy="11430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4897" y="21396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Оплата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4897" y="2487168"/>
            <a:ext cx="15782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0 / symbolic
/ paid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66160"/>
            <a:ext cx="11091672" cy="2377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7490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ПЛЮС ОБЯЗАТЕЛЬНОЕ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5196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Источник идеи — </a:t>
            </a:r>
            <a:r>
              <a:rPr sz="1200" b="0">
                <a:solidFill>
                  <a:srgbClr val="8B98A5"/>
                </a:solidFill>
                <a:latin typeface="Geist"/>
              </a:rPr>
              <a:t>партнёрская задача / Kaggle-датасет / своя боль — от этого зависит, как собирать ICP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3 реальных контакта — </a:t>
            </a:r>
            <a:r>
              <a:rPr sz="1200" b="0">
                <a:solidFill>
                  <a:srgbClr val="8B98A5"/>
                </a:solidFill>
                <a:latin typeface="Geist"/>
              </a:rPr>
              <a:t>имена и связь людей из этой ICP, готовых попробовать MVP в неделе 13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Готовность платить — </a:t>
            </a:r>
            <a:r>
              <a:rPr sz="1200" b="0">
                <a:solidFill>
                  <a:srgbClr val="8B98A5"/>
                </a:solidFill>
                <a:latin typeface="Geist"/>
              </a:rPr>
              <a:t>для партнёра — ценность процесса в часах/деньгах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ICP: конкретность решает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Разница между «сегмент» и «человек» — это разница между провалом и попаданием.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КОНКРЕТНЫЙ ЧЕЛОВЕК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«Студент 3 курса техвуза, завтра защищает курсовую, впервые видит 8 статей на английском»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Понятен триггер и контекст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Можно найти и позвать на интервью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Костыль очевиден (Google Translate + паника)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«ВСЕ X» — ТАК НЕЛЬЗЯ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«Студенты, которым нужно учиться» — кто это? когда? какая боль?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Нельзя найти представителя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Под «всех» продукт не делается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Нет триггера — нет момента ценности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Три антипаттерна идеи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Если попал хотя бы в один — идею либо переформулировать, либо выбросить.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D4F"/>
                </a:solidFill>
                <a:latin typeface="Geist"/>
              </a:rPr>
              <a:t>Решение в поисках проблемы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918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«У меня крутая AI-фича, найду куда приткнуть». Начинать надо с боли, а не с технологии.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011680"/>
            <a:ext cx="3566160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D4F"/>
                </a:solidFill>
                <a:latin typeface="Geist"/>
              </a:rPr>
              <a:t>Продукт «для всех»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918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Чем шире аудитория, тем размытее ценность. «Для всех» = ни для кого.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566160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D4F"/>
                </a:solidFill>
                <a:latin typeface="Geist"/>
              </a:rPr>
              <a:t>Проблема без боли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32918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Проблема есть, но никто не страдает настолько, чтобы менять привычку/платить.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5"/>
                </a:solidFill>
                <a:latin typeface="Geist"/>
              </a:rPr>
              <a:t>Проверка: можешь назвать человека, который бросит текущий костыль ради твоего продукта? Нет — вернись к ICP.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Откуда берётся ICP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Два источника задач курса собирают ICP по-разному.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91672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480560"/>
                <a:gridCol w="4507992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/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Партнёрская задача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Kaggle-датасет / своя боль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Кто ICP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Владелец задачи и его пользователи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Ищешь конкретного представителя сам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Как собрать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Интервью с партнёром (он знает боль)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Гипотеза → живое интервью для проверки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Метрика ценности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Часы/деньги процесса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Готовность платить (0/symbolic/paid)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Риск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Принять слова партнёра за факт — проверяй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Придумать боль, которой нет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5"/>
                </a:solidFill>
                <a:latin typeface="Geist"/>
              </a:rPr>
              <a:t>В обоих случаях ICP не «утверждается», а проверяется живым человеком (неделя 3 — симуляция, затем живое интервью).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это делать в 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Формулировки не выдумываем в голове — прогоняем через скиллы. Профиль ask → DeepSeek (дёшево на объёме).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ICP-канва через скилл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5"/>
                </a:solidFill>
                <a:latin typeface="JetBrains Mono"/>
              </a:rPr>
              <a:t># включи скилл один раз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/skills            → icp-interviewer: Y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ape ask "по идее &lt;одна строка&gt; задай мне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вопросы icp-interviewer и собери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ICP-канву на 1 страницу"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сохранить в проект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/save cloud discovery/icp-idea1.md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скилл САМ переспрашивает про триггер,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костыль, успех — не даёт halтуру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JTBD без тавтологии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ape ask "сформулируй JTBD для этой ICP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по формуле Когда/Хочу/Чтобы;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проверь на тавтологию и вычисти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решение из формулировки"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прожать идею — devils-advocate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ape ask "ты VC, отказал 100 таким.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без слов great/amazing. где тут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боли нет и почему не заплатят?"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ape usage      # сколько токенов ушло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Воркшоп на паре (40 мин)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Каждый — руками. Теория без канвы не считается.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15 мин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заполни ICP-канву
для 1 из 3 идей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8658" y="251917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5858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018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обмен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018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отдай соседу
свою канву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876" y="251917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3076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0236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1 вопрос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0236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сосед задаёт ОДИН
беспощадный вопрос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3094" y="251917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0294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454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правка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7454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чинишь слабое
место канвы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39"/>
            <a:ext cx="11091672" cy="21031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БЕСПОЩАДНЫЙ ВОПРОС — ПРИМЕРЫ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«Назови по имени человека из этой ICP, которого позовёшь на тест»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«Что он делает СЕЙЧАС вместо твоего продукта и чем это плохо?»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«Почему он бросит привычку и заплатит именно тебе?»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Критерии оценки (чеклист 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Каждый пункт 0 или 1. 7 — отлично; 4–6 — переделать канву; &lt;4 — индивидуальная встреча.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91672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92640"/>
                <a:gridCol w="1399032"/>
              </a:tblGrid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Критерий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Балл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ICP — конкретный человек, не «все X»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1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Указан триггер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1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Описан текущий костыль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1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Сформулирован «успех»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1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Указана готовность платить / ценность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1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3+ реальных контакта по каждой идее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1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JTBD без тавтологии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1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Домашка к неделе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Файл discovery/week-2.md — вход в AI-native discovery.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91672" cy="109728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CFF"/>
                </a:solidFill>
                <a:latin typeface="JetBrains Mono"/>
              </a:rPr>
              <a:t>Шорт-лист из 3 идей + ICP-канва по каждой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плюс JTBD и 3 контакта реальных людей с подтверждением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50" b="1">
                <a:solidFill>
                  <a:srgbClr val="5B8CFF"/>
                </a:solidFill>
                <a:latin typeface="Geist"/>
              </a:rPr>
              <a:t>По каждой идее — </a:t>
            </a:r>
            <a:r>
              <a:rPr sz="1250" b="0">
                <a:solidFill>
                  <a:srgbClr val="8B98A5"/>
                </a:solidFill>
                <a:latin typeface="Geist"/>
              </a:rPr>
              <a:t>ICP-канва на 1 страницу (по шаблону из docs/templates/)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50" b="1">
                <a:solidFill>
                  <a:srgbClr val="5B8CFF"/>
                </a:solidFill>
                <a:latin typeface="Geist"/>
              </a:rPr>
              <a:t>JTBD — </a:t>
            </a:r>
            <a:r>
              <a:rPr sz="1250" b="0">
                <a:solidFill>
                  <a:srgbClr val="8B98A5"/>
                </a:solidFill>
                <a:latin typeface="Geist"/>
              </a:rPr>
              <a:t>формула Когда/Хочу/Чтобы, проверенная на тавтологию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50" b="1">
                <a:solidFill>
                  <a:srgbClr val="5B8CFF"/>
                </a:solidFill>
                <a:latin typeface="Geist"/>
              </a:rPr>
              <a:t>Контакты — </a:t>
            </a:r>
            <a:r>
              <a:rPr sz="1250" b="0">
                <a:solidFill>
                  <a:srgbClr val="8B98A5"/>
                </a:solidFill>
                <a:latin typeface="Geist"/>
              </a:rPr>
              <a:t>3 человека из ICP, согласные попробовать MVP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50" b="1">
                <a:solidFill>
                  <a:srgbClr val="5B8CFF"/>
                </a:solidFill>
                <a:latin typeface="Geist"/>
              </a:rPr>
              <a:t>Сдача — </a:t>
            </a:r>
            <a:r>
              <a:rPr sz="1250" b="0">
                <a:solidFill>
                  <a:srgbClr val="8B98A5"/>
                </a:solidFill>
                <a:latin typeface="Geist"/>
              </a:rPr>
              <a:t>PR к следующей паре; на неделе 3 прогоним через architecture-chooser и симуляцию интервью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