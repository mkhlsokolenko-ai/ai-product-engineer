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788920"/>
            <a:ext cx="109728" cy="1554480"/>
          </a:xfrm>
          <a:prstGeom prst="roundRect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B8CFF"/>
                </a:solidFill>
                <a:latin typeface="JetBrains Mono"/>
              </a:rPr>
              <a:t>НЕДЕЛЯ 6 · БЛОК 2→3 · АГЕНТЫ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E6EDF3"/>
                </a:solidFill>
                <a:latin typeface="Geist"/>
              </a:rPr>
              <a:t>Анатомия агента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3434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B98A5"/>
                </a:solidFill>
                <a:latin typeface="Geist"/>
              </a:rPr>
              <a:t>Точка входа в разработку. Из чего собран агент, как он думает, какие бывают — и почему данные ему нужны не как людям.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126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126480"/>
            <a:ext cx="3794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975"/>
                </a:solidFill>
                <a:latin typeface="JetBrains Mono"/>
              </a:rPr>
              <a:t>w6l1 · 06.10.2026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6EDF3"/>
                </a:solidFill>
                <a:latin typeface="Geist"/>
              </a:rPr>
              <a:t>Что унесёте с пары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0" y="651052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975"/>
                </a:solidFill>
                <a:latin typeface="Geist"/>
              </a:rPr>
              <a:t>AI Product Engineer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5"/>
                </a:solidFill>
                <a:latin typeface="JetBrains Mono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300" b="1">
                <a:solidFill>
                  <a:srgbClr val="5B8CFF"/>
                </a:solidFill>
                <a:latin typeface="Geist"/>
              </a:rPr>
              <a:t>Анатомия — </a:t>
            </a:r>
            <a:r>
              <a:rPr sz="1300" b="0">
                <a:solidFill>
                  <a:srgbClr val="8B98A5"/>
                </a:solidFill>
                <a:latin typeface="Geist"/>
              </a:rPr>
              <a:t>разложить агента на компоненты: core, loop, tools, memory, structured output</a:t>
            </a:r>
          </a:p>
          <a:p>
            <a:pPr>
              <a:spcAft>
                <a:spcPts val="1100"/>
              </a:spcAft>
            </a:pPr>
            <a:r>
              <a:rPr sz="13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300" b="1">
                <a:solidFill>
                  <a:srgbClr val="5B8CFF"/>
                </a:solidFill>
                <a:latin typeface="Geist"/>
              </a:rPr>
              <a:t>Принципы — </a:t>
            </a:r>
            <a:r>
              <a:rPr sz="1300" b="0">
                <a:solidFill>
                  <a:srgbClr val="8B98A5"/>
                </a:solidFill>
                <a:latin typeface="Geist"/>
              </a:rPr>
              <a:t>как работает agent loop (Thought→Action→Observation) и когда он останавливается</a:t>
            </a:r>
          </a:p>
          <a:p>
            <a:pPr>
              <a:spcAft>
                <a:spcPts val="1100"/>
              </a:spcAft>
            </a:pPr>
            <a:r>
              <a:rPr sz="13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300" b="1">
                <a:solidFill>
                  <a:srgbClr val="5B8CFF"/>
                </a:solidFill>
                <a:latin typeface="Geist"/>
              </a:rPr>
              <a:t>Виды агентов — </a:t>
            </a:r>
            <a:r>
              <a:rPr sz="1300" b="0">
                <a:solidFill>
                  <a:srgbClr val="8B98A5"/>
                </a:solidFill>
                <a:latin typeface="Geist"/>
              </a:rPr>
              <a:t>паттерны (ReAct, planner, reflection, multi-agent) и что у них лучше/хуже</a:t>
            </a:r>
          </a:p>
          <a:p>
            <a:pPr>
              <a:spcAft>
                <a:spcPts val="1100"/>
              </a:spcAft>
            </a:pPr>
            <a:r>
              <a:rPr sz="13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300" b="1">
                <a:solidFill>
                  <a:srgbClr val="5B8CFF"/>
                </a:solidFill>
                <a:latin typeface="Geist"/>
              </a:rPr>
              <a:t>Плюсы/минусы — </a:t>
            </a:r>
            <a:r>
              <a:rPr sz="1300" b="0">
                <a:solidFill>
                  <a:srgbClr val="8B98A5"/>
                </a:solidFill>
                <a:latin typeface="Geist"/>
              </a:rPr>
              <a:t>когда агент оправдан, а когда его автономность — это риск и лишние деньги</a:t>
            </a:r>
          </a:p>
          <a:p>
            <a:pPr>
              <a:spcAft>
                <a:spcPts val="1100"/>
              </a:spcAft>
            </a:pPr>
            <a:r>
              <a:rPr sz="13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300" b="1">
                <a:solidFill>
                  <a:srgbClr val="5B8CFF"/>
                </a:solidFill>
                <a:latin typeface="Geist"/>
              </a:rPr>
              <a:t>Данные для агентов — </a:t>
            </a:r>
            <a:r>
              <a:rPr sz="1300" b="0">
                <a:solidFill>
                  <a:srgbClr val="8B98A5"/>
                </a:solidFill>
                <a:latin typeface="Geist"/>
              </a:rPr>
              <a:t>агент — не человек: почему ему нужен canonical typed JSON, а не PDF</a:t>
            </a:r>
          </a:p>
          <a:p>
            <a:pPr>
              <a:spcAft>
                <a:spcPts val="1100"/>
              </a:spcAft>
            </a:pPr>
            <a:r>
              <a:rPr sz="13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300" b="1">
                <a:solidFill>
                  <a:srgbClr val="5B8CFF"/>
                </a:solidFill>
                <a:latin typeface="Geist"/>
              </a:rPr>
              <a:t>Старт разработки — </a:t>
            </a:r>
            <a:r>
              <a:rPr sz="1300" b="0">
                <a:solidFill>
                  <a:srgbClr val="8B98A5"/>
                </a:solidFill>
                <a:latin typeface="Geist"/>
              </a:rPr>
              <a:t>с этой пары начинаешь собирать своего агента (ДЗ)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6EDF3"/>
                </a:solidFill>
                <a:latin typeface="Geist"/>
              </a:rPr>
              <a:t>Чем агент отличается от вызова LLM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70432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8A5"/>
                </a:solidFill>
                <a:latin typeface="Geist"/>
              </a:rPr>
              <a:t>Не всё, где есть LLM, — агент. Граница проходит по тому, кто решает следующий шаг.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651052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975"/>
                </a:solidFill>
                <a:latin typeface="Geist"/>
              </a:rPr>
              <a:t>AI Product Engineer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5"/>
                </a:solidFill>
                <a:latin typeface="JetBrains Mono"/>
              </a:rPr>
              <a:t>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965960"/>
          <a:ext cx="11091672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60320"/>
                <a:gridCol w="2743200"/>
                <a:gridCol w="2834640"/>
                <a:gridCol w="2953512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5B8CFF"/>
                          </a:solidFill>
                          <a:latin typeface="JetBrains Mono"/>
                        </a:rPr>
                        <a:t/>
                      </a:r>
                    </a:p>
                  </a:txBody>
                  <a:tcPr anchor="ctr" marT="38100" marB="38100" marL="101600" marR="101600">
                    <a:solidFill>
                      <a:srgbClr val="1A22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8B98A5"/>
                          </a:solidFill>
                          <a:latin typeface="JetBrains Mono"/>
                        </a:rPr>
                        <a:t>Один вызов LLM</a:t>
                      </a:r>
                    </a:p>
                  </a:txBody>
                  <a:tcPr anchor="ctr" marT="38100" marB="38100" marL="101600" marR="101600">
                    <a:solidFill>
                      <a:srgbClr val="1A22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5B8CFF"/>
                          </a:solidFill>
                          <a:latin typeface="JetBrains Mono"/>
                        </a:rPr>
                        <a:t>Workflow</a:t>
                      </a:r>
                    </a:p>
                  </a:txBody>
                  <a:tcPr anchor="ctr" marT="38100" marB="38100" marL="101600" marR="101600">
                    <a:solidFill>
                      <a:srgbClr val="1A22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3FB950"/>
                          </a:solidFill>
                          <a:latin typeface="JetBrains Mono"/>
                        </a:rPr>
                        <a:t>Агент</a:t>
                      </a:r>
                    </a:p>
                  </a:txBody>
                  <a:tcPr anchor="ctr" marT="38100" marB="38100" marL="101600" marR="101600">
                    <a:solidFill>
                      <a:srgbClr val="1A222E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E6EDF3"/>
                          </a:solidFill>
                          <a:latin typeface="Geist"/>
                        </a:rPr>
                        <a:t>Кто ведёт</a:t>
                      </a:r>
                    </a:p>
                  </a:txBody>
                  <a:tcPr anchor="ctr" marT="38100" marB="38100" marL="101600" marR="101600">
                    <a:solidFill>
                      <a:srgbClr val="1218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ты (один промпт)</a:t>
                      </a:r>
                    </a:p>
                  </a:txBody>
                  <a:tcPr anchor="ctr" marT="38100" marB="38100" marL="101600" marR="101600">
                    <a:solidFill>
                      <a:srgbClr val="1218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ты (граф шагов)</a:t>
                      </a:r>
                    </a:p>
                  </a:txBody>
                  <a:tcPr anchor="ctr" marT="38100" marB="38100" marL="101600" marR="101600">
                    <a:solidFill>
                      <a:srgbClr val="1218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LLM в цикле</a:t>
                      </a:r>
                    </a:p>
                  </a:txBody>
                  <a:tcPr anchor="ctr" marT="38100" marB="38100" marL="101600" marR="101600">
                    <a:solidFill>
                      <a:srgbClr val="121821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E6EDF3"/>
                          </a:solidFill>
                          <a:latin typeface="Geist"/>
                        </a:rPr>
                        <a:t>Инструменты</a:t>
                      </a:r>
                    </a:p>
                  </a:txBody>
                  <a:tcPr anchor="ctr" marT="38100" marB="38100" marL="101600" marR="101600">
                    <a:solidFill>
                      <a:srgbClr val="0B0F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нет</a:t>
                      </a:r>
                    </a:p>
                  </a:txBody>
                  <a:tcPr anchor="ctr" marT="38100" marB="38100" marL="101600" marR="101600">
                    <a:solidFill>
                      <a:srgbClr val="0B0F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вызываешь по плану</a:t>
                      </a:r>
                    </a:p>
                  </a:txBody>
                  <a:tcPr anchor="ctr" marT="38100" marB="38100" marL="101600" marR="101600">
                    <a:solidFill>
                      <a:srgbClr val="0B0F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выбирает сам</a:t>
                      </a:r>
                    </a:p>
                  </a:txBody>
                  <a:tcPr anchor="ctr" marT="38100" marB="38100" marL="101600" marR="101600">
                    <a:solidFill>
                      <a:srgbClr val="0B0F14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E6EDF3"/>
                          </a:solidFill>
                          <a:latin typeface="Geist"/>
                        </a:rPr>
                        <a:t>Остановка</a:t>
                      </a:r>
                    </a:p>
                  </a:txBody>
                  <a:tcPr anchor="ctr" marT="38100" marB="38100" marL="101600" marR="101600">
                    <a:solidFill>
                      <a:srgbClr val="1218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один ответ</a:t>
                      </a:r>
                    </a:p>
                  </a:txBody>
                  <a:tcPr anchor="ctr" marT="38100" marB="38100" marL="101600" marR="101600">
                    <a:solidFill>
                      <a:srgbClr val="1218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конец графа</a:t>
                      </a:r>
                    </a:p>
                  </a:txBody>
                  <a:tcPr anchor="ctr" marT="38100" marB="38100" marL="101600" marR="101600">
                    <a:solidFill>
                      <a:srgbClr val="1218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решает, что задача решена</a:t>
                      </a:r>
                    </a:p>
                  </a:txBody>
                  <a:tcPr anchor="ctr" marT="38100" marB="38100" marL="101600" marR="101600">
                    <a:solidFill>
                      <a:srgbClr val="121821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E6EDF3"/>
                          </a:solidFill>
                          <a:latin typeface="Geist"/>
                        </a:rPr>
                        <a:t>Предсказуемость</a:t>
                      </a:r>
                    </a:p>
                  </a:txBody>
                  <a:tcPr anchor="ctr" marT="38100" marB="38100" marL="101600" marR="101600">
                    <a:solidFill>
                      <a:srgbClr val="0B0F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высокая</a:t>
                      </a:r>
                    </a:p>
                  </a:txBody>
                  <a:tcPr anchor="ctr" marT="38100" marB="38100" marL="101600" marR="101600">
                    <a:solidFill>
                      <a:srgbClr val="0B0F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высокая</a:t>
                      </a:r>
                    </a:p>
                  </a:txBody>
                  <a:tcPr anchor="ctr" marT="38100" marB="38100" marL="101600" marR="101600">
                    <a:solidFill>
                      <a:srgbClr val="0B0F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ниже — путь на лету</a:t>
                      </a:r>
                    </a:p>
                  </a:txBody>
                  <a:tcPr anchor="ctr" marT="38100" marB="38100" marL="101600" marR="101600">
                    <a:solidFill>
                      <a:srgbClr val="0B0F14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9834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C6975"/>
                </a:solidFill>
                <a:latin typeface="Geist"/>
              </a:rPr>
              <a:t>Выбор workflow / agent / hybrid мы уже разбирали (неделя 3). Здесь — что внутри агента, если ты выбрал именно его.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6EDF3"/>
                </a:solidFill>
                <a:latin typeface="Geist"/>
              </a:rPr>
              <a:t>Анатомия: из чего собран агент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70432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8A5"/>
                </a:solidFill>
                <a:latin typeface="Geist"/>
              </a:rPr>
              <a:t>Восемь компонентов (по Шевченко). Agent Core — мозг, остальное — обвязка вокруг него.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651052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975"/>
                </a:solidFill>
                <a:latin typeface="Geist"/>
              </a:rPr>
              <a:t>AI Product Engineer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5"/>
                </a:solidFill>
                <a:latin typeface="JetBrains Mono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2608326" cy="1691640"/>
          </a:xfrm>
          <a:prstGeom prst="roundRect">
            <a:avLst/>
          </a:prstGeom>
          <a:solidFill>
            <a:srgbClr val="1A222E"/>
          </a:solidFill>
          <a:ln w="12700">
            <a:solidFill>
              <a:srgbClr val="5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24256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B8CFF"/>
                </a:solidFill>
                <a:latin typeface="Geist"/>
              </a:rPr>
              <a:t>Agent Core (LLM)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71800"/>
            <a:ext cx="224256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8A5"/>
                </a:solidFill>
                <a:latin typeface="Geist"/>
              </a:rPr>
              <a:t>мозг: рассуждает и решает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76422" y="2011680"/>
            <a:ext cx="2608326" cy="169164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9302" y="2212848"/>
            <a:ext cx="224256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6EDF3"/>
                </a:solidFill>
                <a:latin typeface="Geist"/>
              </a:rPr>
              <a:t>System Prompt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9302" y="2971800"/>
            <a:ext cx="224256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8A5"/>
                </a:solidFill>
                <a:latin typeface="Geist"/>
              </a:rPr>
              <a:t>кто он, что нельзя, формат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4204" y="2011680"/>
            <a:ext cx="2608326" cy="169164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7084" y="2212848"/>
            <a:ext cx="224256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6EDF3"/>
                </a:solidFill>
                <a:latin typeface="Geist"/>
              </a:rPr>
              <a:t>User Prompt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7084" y="2971800"/>
            <a:ext cx="224256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8A5"/>
                </a:solidFill>
                <a:latin typeface="Geist"/>
              </a:rPr>
              <a:t>конкретная задача сейчас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31986" y="2011680"/>
            <a:ext cx="2608326" cy="169164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14865" y="2212848"/>
            <a:ext cx="224256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6EDF3"/>
                </a:solidFill>
                <a:latin typeface="Geist"/>
              </a:rPr>
              <a:t>Agent Loop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14865" y="2971800"/>
            <a:ext cx="224256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8A5"/>
                </a:solidFill>
                <a:latin typeface="Geist"/>
              </a:rPr>
              <a:t>цикл шагов до решения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886200"/>
            <a:ext cx="2608326" cy="169164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087368"/>
            <a:ext cx="224256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6EDF3"/>
                </a:solidFill>
                <a:latin typeface="Geist"/>
              </a:rPr>
              <a:t>Tools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846320"/>
            <a:ext cx="224256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8A5"/>
                </a:solidFill>
                <a:latin typeface="Geist"/>
              </a:rPr>
              <a:t>руки: чем действует вовне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76422" y="3886200"/>
            <a:ext cx="2608326" cy="169164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59302" y="4087368"/>
            <a:ext cx="224256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6EDF3"/>
                </a:solidFill>
                <a:latin typeface="Geist"/>
              </a:rPr>
              <a:t>Memory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59302" y="4846320"/>
            <a:ext cx="224256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8A5"/>
                </a:solidFill>
                <a:latin typeface="Geist"/>
              </a:rPr>
              <a:t>что помнит между шагами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04204" y="3886200"/>
            <a:ext cx="2608326" cy="169164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87084" y="4087368"/>
            <a:ext cx="224256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6EDF3"/>
                </a:solidFill>
                <a:latin typeface="Geist"/>
              </a:rPr>
              <a:t>Sub-agents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87084" y="4846320"/>
            <a:ext cx="224256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8A5"/>
                </a:solidFill>
                <a:latin typeface="Geist"/>
              </a:rPr>
              <a:t>делегирование подзадач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31986" y="3886200"/>
            <a:ext cx="2608326" cy="169164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14865" y="4087368"/>
            <a:ext cx="224256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6EDF3"/>
                </a:solidFill>
                <a:latin typeface="Geist"/>
              </a:rPr>
              <a:t>Structured Output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14865" y="4846320"/>
            <a:ext cx="224256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8A5"/>
                </a:solidFill>
                <a:latin typeface="Geist"/>
              </a:rPr>
              <a:t>парсимый ответ по схеме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C6975"/>
                </a:solidFill>
                <a:latin typeface="Geist"/>
              </a:rPr>
              <a:t>Контур: Контроль (что задаёшь ты) · Ввод (что видит) · Механизм (loop+tools+memory) · Вывод (structured output).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6EDF3"/>
                </a:solidFill>
                <a:latin typeface="Geist"/>
              </a:rPr>
              <a:t>Принципы работы: agent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70432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8A5"/>
                </a:solidFill>
                <a:latin typeface="Geist"/>
              </a:rPr>
              <a:t>Агент думает шагами. Основной паттерн — ReAct: рассуждение чередуется с действием.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651052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975"/>
                </a:solidFill>
                <a:latin typeface="Geist"/>
              </a:rPr>
              <a:t>AI Product Engineer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5"/>
                </a:solidFill>
                <a:latin typeface="JetBrains Mono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48840"/>
            <a:ext cx="2430018" cy="1234440"/>
          </a:xfrm>
          <a:prstGeom prst="roundRect">
            <a:avLst/>
          </a:prstGeom>
          <a:solidFill>
            <a:srgbClr val="1A222E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276856"/>
            <a:ext cx="215569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B8CFF"/>
                </a:solidFill>
                <a:latin typeface="Geist"/>
              </a:rPr>
              <a:t>Thought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24328"/>
            <a:ext cx="215569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8B98A5"/>
                </a:solidFill>
                <a:latin typeface="Geist"/>
              </a:rPr>
              <a:t>рассуждает,
что делать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8658" y="256489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5C6975"/>
                </a:solidFill>
                <a:latin typeface="Geist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35858" y="2148840"/>
            <a:ext cx="2430018" cy="1234440"/>
          </a:xfrm>
          <a:prstGeom prst="roundRect">
            <a:avLst/>
          </a:prstGeom>
          <a:solidFill>
            <a:srgbClr val="1A222E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73018" y="2276856"/>
            <a:ext cx="215569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B8CFF"/>
                </a:solidFill>
                <a:latin typeface="Geist"/>
              </a:rPr>
              <a:t>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73018" y="2624328"/>
            <a:ext cx="215569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8B98A5"/>
                </a:solidFill>
                <a:latin typeface="Geist"/>
              </a:rPr>
              <a:t>вызывает
inструмент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65876" y="256489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5C6975"/>
                </a:solidFill>
                <a:latin typeface="Geist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23076" y="2148840"/>
            <a:ext cx="2430018" cy="1234440"/>
          </a:xfrm>
          <a:prstGeom prst="roundRect">
            <a:avLst/>
          </a:prstGeom>
          <a:solidFill>
            <a:srgbClr val="1A222E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0236" y="2276856"/>
            <a:ext cx="215569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B8CFF"/>
                </a:solidFill>
                <a:latin typeface="Geist"/>
              </a:rPr>
              <a:t>Observation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0236" y="2624328"/>
            <a:ext cx="215569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8B98A5"/>
                </a:solidFill>
                <a:latin typeface="Geist"/>
              </a:rPr>
              <a:t>видит
результат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53094" y="256489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5C6975"/>
                </a:solidFill>
                <a:latin typeface="Geist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10294" y="2148840"/>
            <a:ext cx="2430018" cy="1234440"/>
          </a:xfrm>
          <a:prstGeom prst="roundRect">
            <a:avLst/>
          </a:prstGeom>
          <a:solidFill>
            <a:srgbClr val="1A222E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47454" y="2276856"/>
            <a:ext cx="215569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B8CFF"/>
                </a:solidFill>
                <a:latin typeface="Geist"/>
              </a:rPr>
              <a:t>Готово?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47454" y="2624328"/>
            <a:ext cx="215569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8B98A5"/>
                </a:solidFill>
                <a:latin typeface="Geist"/>
              </a:rPr>
              <a:t>нет → снова
Thought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749039"/>
            <a:ext cx="11091672" cy="210312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9319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B8CFF"/>
                </a:solidFill>
                <a:latin typeface="JetBrains Mono"/>
              </a:rPr>
              <a:t>ЧТО ДЕРЖИТ LOOP ПОД КОНТРОЛЕМ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4348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200" b="1">
                <a:solidFill>
                  <a:srgbClr val="5B8CFF"/>
                </a:solidFill>
                <a:latin typeface="Geist"/>
              </a:rPr>
              <a:t>Условие остановки — </a:t>
            </a:r>
            <a:r>
              <a:rPr sz="1200" b="0">
                <a:solidFill>
                  <a:srgbClr val="8B98A5"/>
                </a:solidFill>
                <a:latin typeface="Geist"/>
              </a:rPr>
              <a:t>агент должен знать, когда задача решена — иначе цикл гуляет и жжёт токены</a:t>
            </a:r>
          </a:p>
          <a:p>
            <a:pPr>
              <a:spcAft>
                <a:spcPts val="900"/>
              </a:spcAft>
            </a:pPr>
            <a:r>
              <a:rPr sz="12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200" b="1">
                <a:solidFill>
                  <a:srgbClr val="5B8CFF"/>
                </a:solidFill>
                <a:latin typeface="Geist"/>
              </a:rPr>
              <a:t>Бюджет шагов — </a:t>
            </a:r>
            <a:r>
              <a:rPr sz="1200" b="0">
                <a:solidFill>
                  <a:srgbClr val="8B98A5"/>
                </a:solidFill>
                <a:latin typeface="Geist"/>
              </a:rPr>
              <a:t>лимит итераций/токенов — предохранитель от зацикливания</a:t>
            </a:r>
          </a:p>
          <a:p>
            <a:pPr>
              <a:spcAft>
                <a:spcPts val="900"/>
              </a:spcAft>
            </a:pPr>
            <a:r>
              <a:rPr sz="12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200" b="1">
                <a:solidFill>
                  <a:srgbClr val="5B8CFF"/>
                </a:solidFill>
                <a:latin typeface="Geist"/>
              </a:rPr>
              <a:t>Контекст растёт на каждом шаге — </a:t>
            </a:r>
            <a:r>
              <a:rPr sz="1200" b="0">
                <a:solidFill>
                  <a:srgbClr val="8B98A5"/>
                </a:solidFill>
                <a:latin typeface="Geist"/>
              </a:rPr>
              <a:t>нужен context engineering: что оставить, что сжать (неделя 8)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6EDF3"/>
                </a:solidFill>
                <a:latin typeface="Geist"/>
              </a:rPr>
              <a:t>Виды агентов (паттерны)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70432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8A5"/>
                </a:solidFill>
                <a:latin typeface="Geist"/>
              </a:rPr>
              <a:t>Одного «агента» не существует — есть паттерны под разные задачи. Что лучше/хуже: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651052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975"/>
                </a:solidFill>
                <a:latin typeface="Geist"/>
              </a:rPr>
              <a:t>AI Product Engineer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5"/>
                </a:solidFill>
                <a:latin typeface="JetBrains Mono"/>
              </a:rPr>
              <a:t>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920240"/>
          <a:ext cx="11091672" cy="3200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68880"/>
                <a:gridCol w="4937760"/>
                <a:gridCol w="3685032"/>
              </a:tblGrid>
              <a:tr h="53340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5B8CFF"/>
                          </a:solidFill>
                          <a:latin typeface="JetBrains Mono"/>
                        </a:rPr>
                        <a:t>Паттерн</a:t>
                      </a:r>
                    </a:p>
                  </a:txBody>
                  <a:tcPr anchor="ctr" marT="38100" marB="38100" marL="101600" marR="101600">
                    <a:solidFill>
                      <a:srgbClr val="1A22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5B8CFF"/>
                          </a:solidFill>
                          <a:latin typeface="JetBrains Mono"/>
                        </a:rPr>
                        <a:t>Как работает</a:t>
                      </a:r>
                    </a:p>
                  </a:txBody>
                  <a:tcPr anchor="ctr" marT="38100" marB="38100" marL="101600" marR="101600">
                    <a:solidFill>
                      <a:srgbClr val="1A22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E3B341"/>
                          </a:solidFill>
                          <a:latin typeface="JetBrains Mono"/>
                        </a:rPr>
                        <a:t>Когда брать / стоимость</a:t>
                      </a:r>
                    </a:p>
                  </a:txBody>
                  <a:tcPr anchor="ctr" marT="38100" marB="38100" marL="101600" marR="101600">
                    <a:solidFill>
                      <a:srgbClr val="1A222E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E6EDF3"/>
                          </a:solidFill>
                          <a:latin typeface="Geist"/>
                        </a:rPr>
                        <a:t>ReAct</a:t>
                      </a:r>
                    </a:p>
                  </a:txBody>
                  <a:tcPr anchor="ctr" marT="38100" marB="38100" marL="101600" marR="101600">
                    <a:solidFill>
                      <a:srgbClr val="1218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Thought→Action→Observation в цикле</a:t>
                      </a:r>
                    </a:p>
                  </a:txBody>
                  <a:tcPr anchor="ctr" marT="38100" marB="38100" marL="101600" marR="101600">
                    <a:solidFill>
                      <a:srgbClr val="1218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универсальная база · средняя</a:t>
                      </a:r>
                    </a:p>
                  </a:txBody>
                  <a:tcPr anchor="ctr" marT="38100" marB="38100" marL="101600" marR="101600">
                    <a:solidFill>
                      <a:srgbClr val="121821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E6EDF3"/>
                          </a:solidFill>
                          <a:latin typeface="Geist"/>
                        </a:rPr>
                        <a:t>Planner-Executor</a:t>
                      </a:r>
                    </a:p>
                  </a:txBody>
                  <a:tcPr anchor="ctr" marT="38100" marB="38100" marL="101600" marR="101600">
                    <a:solidFill>
                      <a:srgbClr val="0B0F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сначала план, потом исполнение шагов</a:t>
                      </a:r>
                    </a:p>
                  </a:txBody>
                  <a:tcPr anchor="ctr" marT="38100" marB="38100" marL="101600" marR="101600">
                    <a:solidFill>
                      <a:srgbClr val="0B0F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сложные многошаговые · выше</a:t>
                      </a:r>
                    </a:p>
                  </a:txBody>
                  <a:tcPr anchor="ctr" marT="38100" marB="38100" marL="101600" marR="101600">
                    <a:solidFill>
                      <a:srgbClr val="0B0F14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E6EDF3"/>
                          </a:solidFill>
                          <a:latin typeface="Geist"/>
                        </a:rPr>
                        <a:t>Reflection</a:t>
                      </a:r>
                    </a:p>
                  </a:txBody>
                  <a:tcPr anchor="ctr" marT="38100" marB="38100" marL="101600" marR="101600">
                    <a:solidFill>
                      <a:srgbClr val="1218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критикует и переделывает свой ответ</a:t>
                      </a:r>
                    </a:p>
                  </a:txBody>
                  <a:tcPr anchor="ctr" marT="38100" marB="38100" marL="101600" marR="101600">
                    <a:solidFill>
                      <a:srgbClr val="1218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качество важнее цены · ×2</a:t>
                      </a:r>
                    </a:p>
                  </a:txBody>
                  <a:tcPr anchor="ctr" marT="38100" marB="38100" marL="101600" marR="101600">
                    <a:solidFill>
                      <a:srgbClr val="121821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E6EDF3"/>
                          </a:solidFill>
                          <a:latin typeface="Geist"/>
                        </a:rPr>
                        <a:t>Router / Tool-use</a:t>
                      </a:r>
                    </a:p>
                  </a:txBody>
                  <a:tcPr anchor="ctr" marT="38100" marB="38100" marL="101600" marR="101600">
                    <a:solidFill>
                      <a:srgbClr val="0B0F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выбирает инструмент/ветку под запрос</a:t>
                      </a:r>
                    </a:p>
                  </a:txBody>
                  <a:tcPr anchor="ctr" marT="38100" marB="38100" marL="101600" marR="101600">
                    <a:solidFill>
                      <a:srgbClr val="0B0F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узкие задачи · низкая</a:t>
                      </a:r>
                    </a:p>
                  </a:txBody>
                  <a:tcPr anchor="ctr" marT="38100" marB="38100" marL="101600" marR="101600">
                    <a:solidFill>
                      <a:srgbClr val="0B0F14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E6EDF3"/>
                          </a:solidFill>
                          <a:latin typeface="Geist"/>
                        </a:rPr>
                        <a:t>Multi-agent</a:t>
                      </a:r>
                    </a:p>
                  </a:txBody>
                  <a:tcPr anchor="ctr" marT="38100" marB="38100" marL="101600" marR="101600">
                    <a:solidFill>
                      <a:srgbClr val="1218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оркестратор + воркеры по ролям</a:t>
                      </a:r>
                    </a:p>
                  </a:txBody>
                  <a:tcPr anchor="ctr" marT="38100" marB="38100" marL="101600" marR="101600">
                    <a:solidFill>
                      <a:srgbClr val="1218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широкий охват, параллель · высокая</a:t>
                      </a:r>
                    </a:p>
                  </a:txBody>
                  <a:tcPr anchor="ctr" marT="38100" marB="38100" marL="101600" marR="101600">
                    <a:solidFill>
                      <a:srgbClr val="121821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3492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975"/>
                </a:solidFill>
                <a:latin typeface="Geist"/>
              </a:rPr>
              <a:t>Правило: бери простейший паттерн, решающий задачу. Multi-agent — не для престижа, а когда задача реально дробится на роли.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6EDF3"/>
                </a:solidFill>
                <a:latin typeface="Geist"/>
              </a:rPr>
              <a:t>Плюсы и минусы агентного подхода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70432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8A5"/>
                </a:solidFill>
                <a:latin typeface="Geist"/>
              </a:rPr>
              <a:t>Автономность — это не только сила. За неё платишь.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651052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975"/>
                </a:solidFill>
                <a:latin typeface="Geist"/>
              </a:rPr>
              <a:t>AI Product Engineer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5"/>
                </a:solidFill>
                <a:latin typeface="JetBrains Mono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65960"/>
            <a:ext cx="5431536" cy="356616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167128"/>
            <a:ext cx="49743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3FB950"/>
                </a:solidFill>
                <a:latin typeface="JetBrains Mono"/>
              </a:rPr>
              <a:t>✓ КОГДА АГЕНТ ОПРАВДАН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715768"/>
            <a:ext cx="4928616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FB950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Вход непредсказуем — путь заранее не задать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3FB950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Задача открытая/творческая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3FB950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Много инструментов, нужен выбор на лету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3FB950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Среда меняется — жёсткий граф не успевает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1965960"/>
            <a:ext cx="5431536" cy="356616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8" y="2167128"/>
            <a:ext cx="49743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F4D4F"/>
                </a:solidFill>
                <a:latin typeface="JetBrains Mono"/>
              </a:rPr>
              <a:t>✗ ЦЕНА АВТОНОМНОСТИ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8" y="2715768"/>
            <a:ext cx="4928616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4D4F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Дороже: токены × число шагов, цикл гуляет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FF4D4F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Стохастичность — труднее тестировать и повторить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FF4D4F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Сложнее аудит: «почему он так решил?»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FF4D4F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Безопасность: агент сам вызывает tools → риск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6EDF3"/>
                </a:solidFill>
                <a:latin typeface="Geist"/>
              </a:rPr>
              <a:t>Данные для агентов: агент — не человек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70432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8A5"/>
                </a:solidFill>
                <a:latin typeface="Geist"/>
              </a:rPr>
              <a:t>Ключевая мысль пары. Агент не «понимает» — он обрабатывает токены. Данные ему нужны иначе.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651052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975"/>
                </a:solidFill>
                <a:latin typeface="Geist"/>
              </a:rPr>
              <a:t>AI Product Engineer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5"/>
                </a:solidFill>
                <a:latin typeface="JetBrains Mono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20240"/>
            <a:ext cx="11091672" cy="137160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5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2140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B8CFF"/>
                </a:solidFill>
                <a:latin typeface="Geist"/>
              </a:rPr>
              <a:t>Человек достраивает смысл. Агент — нет.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97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E6EDF3"/>
                </a:solidFill>
                <a:latin typeface="Geist"/>
              </a:rPr>
              <a:t>Человек глянет на кривой PDF-отчёт и «поймёт». Агент видит поток токенов без интуиции, контекста и здравого смысла — что подали, то и обработал. Мусор на входе → уверенный мусор на выходе.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61188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200" b="1">
                <a:solidFill>
                  <a:srgbClr val="5B8CFF"/>
                </a:solidFill>
                <a:latin typeface="Geist"/>
              </a:rPr>
              <a:t>Нет интуиции — </a:t>
            </a:r>
            <a:r>
              <a:rPr sz="1200" b="0">
                <a:solidFill>
                  <a:srgbClr val="8B98A5"/>
                </a:solidFill>
                <a:latin typeface="Geist"/>
              </a:rPr>
              <a:t>не догадается, что «1 200» и «1200 ₽» — одно; нужны явные типы и единицы</a:t>
            </a:r>
          </a:p>
          <a:p>
            <a:pPr>
              <a:spcAft>
                <a:spcPts val="1000"/>
              </a:spcAft>
            </a:pPr>
            <a:r>
              <a:rPr sz="12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200" b="1">
                <a:solidFill>
                  <a:srgbClr val="5B8CFF"/>
                </a:solidFill>
                <a:latin typeface="Geist"/>
              </a:rPr>
              <a:t>Нет здравого смысла о свежести — </a:t>
            </a:r>
            <a:r>
              <a:rPr sz="1200" b="0">
                <a:solidFill>
                  <a:srgbClr val="8B98A5"/>
                </a:solidFill>
                <a:latin typeface="Geist"/>
              </a:rPr>
              <a:t>не знает, что цифра за прошлый год устарела — нужен признак свежести</a:t>
            </a:r>
          </a:p>
          <a:p>
            <a:pPr>
              <a:spcAft>
                <a:spcPts val="1000"/>
              </a:spcAft>
            </a:pPr>
            <a:r>
              <a:rPr sz="12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200" b="1">
                <a:solidFill>
                  <a:srgbClr val="5B8CFF"/>
                </a:solidFill>
                <a:latin typeface="Geist"/>
              </a:rPr>
              <a:t>Конечный контекст — </a:t>
            </a:r>
            <a:r>
              <a:rPr sz="1200" b="0">
                <a:solidFill>
                  <a:srgbClr val="8B98A5"/>
                </a:solidFill>
                <a:latin typeface="Geist"/>
              </a:rPr>
              <a:t>не «прочитает всё» — данные должны быть выбираемы и компактны</a:t>
            </a:r>
          </a:p>
          <a:p>
            <a:pPr>
              <a:spcAft>
                <a:spcPts val="1000"/>
              </a:spcAft>
            </a:pPr>
            <a:r>
              <a:rPr sz="12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200" b="1">
                <a:solidFill>
                  <a:srgbClr val="5B8CFF"/>
                </a:solidFill>
                <a:latin typeface="Geist"/>
              </a:rPr>
              <a:t>Буквальность — </a:t>
            </a:r>
            <a:r>
              <a:rPr sz="1200" b="0">
                <a:solidFill>
                  <a:srgbClr val="8B98A5"/>
                </a:solidFill>
                <a:latin typeface="Geist"/>
              </a:rPr>
              <a:t>неоднозначность трактует случайно — нужна одна детерминированная трактовка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6EDF3"/>
                </a:solidFill>
                <a:latin typeface="Geist"/>
              </a:rPr>
              <a:t>Human-readable ≠ agent-readable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70432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8A5"/>
                </a:solidFill>
                <a:latin typeface="Geist"/>
              </a:rPr>
              <a:t>Одни и те же данные для человека и для агента готовятся по-разному.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651052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975"/>
                </a:solidFill>
                <a:latin typeface="Geist"/>
              </a:rPr>
              <a:t>AI Product Engineer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5"/>
                </a:solidFill>
                <a:latin typeface="JetBrains Mono"/>
              </a:rPr>
              <a:t>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965960"/>
          <a:ext cx="11091672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/>
                <a:gridCol w="4389120"/>
                <a:gridCol w="4416552"/>
              </a:tblGrid>
              <a:tr h="470262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5B8CFF"/>
                          </a:solidFill>
                          <a:latin typeface="JetBrains Mono"/>
                        </a:rPr>
                        <a:t>Аспект</a:t>
                      </a:r>
                    </a:p>
                  </a:txBody>
                  <a:tcPr anchor="ctr" marT="38100" marB="38100" marL="101600" marR="101600">
                    <a:solidFill>
                      <a:srgbClr val="1A22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E3B341"/>
                          </a:solidFill>
                          <a:latin typeface="JetBrains Mono"/>
                        </a:rPr>
                        <a:t>Как подаём человеку</a:t>
                      </a:r>
                    </a:p>
                  </a:txBody>
                  <a:tcPr anchor="ctr" marT="38100" marB="38100" marL="101600" marR="101600">
                    <a:solidFill>
                      <a:srgbClr val="1A22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3FB950"/>
                          </a:solidFill>
                          <a:latin typeface="JetBrains Mono"/>
                        </a:rPr>
                        <a:t>Как нужно агенту</a:t>
                      </a:r>
                    </a:p>
                  </a:txBody>
                  <a:tcPr anchor="ctr" marT="38100" marB="38100" marL="101600" marR="101600">
                    <a:solidFill>
                      <a:srgbClr val="1A222E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E6EDF3"/>
                          </a:solidFill>
                          <a:latin typeface="Geist"/>
                        </a:rPr>
                        <a:t>Формат</a:t>
                      </a:r>
                    </a:p>
                  </a:txBody>
                  <a:tcPr anchor="ctr" marT="38100" marB="38100" marL="101600" marR="101600">
                    <a:solidFill>
                      <a:srgbClr val="1218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PDF, слайды, красивый отчёт</a:t>
                      </a:r>
                    </a:p>
                  </a:txBody>
                  <a:tcPr anchor="ctr" marT="38100" marB="38100" marL="101600" marR="101600">
                    <a:solidFill>
                      <a:srgbClr val="1218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canonical typed JSON по схеме</a:t>
                      </a:r>
                    </a:p>
                  </a:txBody>
                  <a:tcPr anchor="ctr" marT="38100" marB="38100" marL="101600" marR="101600">
                    <a:solidFill>
                      <a:srgbClr val="121821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E6EDF3"/>
                          </a:solidFill>
                          <a:latin typeface="Geist"/>
                        </a:rPr>
                        <a:t>Контекст</a:t>
                      </a:r>
                    </a:p>
                  </a:txBody>
                  <a:tcPr anchor="ctr" marT="38100" marB="38100" marL="101600" marR="101600">
                    <a:solidFill>
                      <a:srgbClr val="0B0F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неявный, «и так понятно»</a:t>
                      </a:r>
                    </a:p>
                  </a:txBody>
                  <a:tcPr anchor="ctr" marT="38100" marB="38100" marL="101600" marR="101600">
                    <a:solidFill>
                      <a:srgbClr val="0B0F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явный: поля, единицы, связи</a:t>
                      </a:r>
                    </a:p>
                  </a:txBody>
                  <a:tcPr anchor="ctr" marT="38100" marB="38100" marL="101600" marR="101600">
                    <a:solidFill>
                      <a:srgbClr val="0B0F14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E6EDF3"/>
                          </a:solidFill>
                          <a:latin typeface="Geist"/>
                        </a:rPr>
                        <a:t>Полнота</a:t>
                      </a:r>
                    </a:p>
                  </a:txBody>
                  <a:tcPr anchor="ctr" marT="38100" marB="38100" marL="101600" marR="101600">
                    <a:solidFill>
                      <a:srgbClr val="1218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«примерно», округления</a:t>
                      </a:r>
                    </a:p>
                  </a:txBody>
                  <a:tcPr anchor="ctr" marT="38100" marB="38100" marL="101600" marR="101600">
                    <a:solidFill>
                      <a:srgbClr val="1218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точные значения + provenance (откуда)</a:t>
                      </a:r>
                    </a:p>
                  </a:txBody>
                  <a:tcPr anchor="ctr" marT="38100" marB="38100" marL="101600" marR="101600">
                    <a:solidFill>
                      <a:srgbClr val="121821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E6EDF3"/>
                          </a:solidFill>
                          <a:latin typeface="Geist"/>
                        </a:rPr>
                        <a:t>Свежесть</a:t>
                      </a:r>
                    </a:p>
                  </a:txBody>
                  <a:tcPr anchor="ctr" marT="38100" marB="38100" marL="101600" marR="101600">
                    <a:solidFill>
                      <a:srgbClr val="0B0F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человек знает, что устарело</a:t>
                      </a:r>
                    </a:p>
                  </a:txBody>
                  <a:tcPr anchor="ctr" marT="38100" marB="38100" marL="101600" marR="101600">
                    <a:solidFill>
                      <a:srgbClr val="0B0F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TTL: протухшее не отдаётся</a:t>
                      </a:r>
                    </a:p>
                  </a:txBody>
                  <a:tcPr anchor="ctr" marT="38100" marB="38100" marL="101600" marR="101600">
                    <a:solidFill>
                      <a:srgbClr val="0B0F14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E6EDF3"/>
                          </a:solidFill>
                          <a:latin typeface="Geist"/>
                        </a:rPr>
                        <a:t>Объём</a:t>
                      </a:r>
                    </a:p>
                  </a:txBody>
                  <a:tcPr anchor="ctr" marT="38100" marB="38100" marL="101600" marR="101600">
                    <a:solidFill>
                      <a:srgbClr val="1218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листаем сколько угодно</a:t>
                      </a:r>
                    </a:p>
                  </a:txBody>
                  <a:tcPr anchor="ctr" marT="38100" marB="38100" marL="101600" marR="101600">
                    <a:solidFill>
                      <a:srgbClr val="1218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бюджет контекста → выборка/фильтр</a:t>
                      </a:r>
                    </a:p>
                  </a:txBody>
                  <a:tcPr anchor="ctr" marT="38100" marB="38100" marL="101600" marR="101600">
                    <a:solidFill>
                      <a:srgbClr val="121821"/>
                    </a:solidFill>
                  </a:tcPr>
                </a:tc>
              </a:tr>
              <a:tr h="47026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E6EDF3"/>
                          </a:solidFill>
                          <a:latin typeface="Geist"/>
                        </a:rPr>
                        <a:t>Неоднозначность</a:t>
                      </a:r>
                    </a:p>
                  </a:txBody>
                  <a:tcPr anchor="ctr" marT="38100" marB="38100" marL="101600" marR="101600">
                    <a:solidFill>
                      <a:srgbClr val="0B0F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додумываем по смыслу</a:t>
                      </a:r>
                    </a:p>
                  </a:txBody>
                  <a:tcPr anchor="ctr" marT="38100" marB="38100" marL="101600" marR="101600">
                    <a:solidFill>
                      <a:srgbClr val="0B0F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недопустима: одна трактовка</a:t>
                      </a:r>
                    </a:p>
                  </a:txBody>
                  <a:tcPr anchor="ctr" marT="38100" marB="38100" marL="101600" marR="101600">
                    <a:solidFill>
                      <a:srgbClr val="0B0F14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4864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975"/>
                </a:solidFill>
                <a:latin typeface="Geist"/>
              </a:rPr>
              <a:t>Отсюда — отдельный слой данных (Data Plane): источник → чистый типизированный JSON, а не «скорми агенту папку».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6EDF3"/>
                </a:solidFill>
                <a:latin typeface="Geist"/>
              </a:rPr>
              <a:t>Требования к данным для агента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70432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8A5"/>
                </a:solidFill>
                <a:latin typeface="Geist"/>
              </a:rPr>
              <a:t>Чеклист входных данных. Всё это даёт слой данных (в ape — /data).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651052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975"/>
                </a:solidFill>
                <a:latin typeface="Geist"/>
              </a:rPr>
              <a:t>AI Product Engineer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5"/>
                </a:solidFill>
                <a:latin typeface="JetBrains Mono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65960"/>
            <a:ext cx="5431536" cy="356616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167128"/>
            <a:ext cx="49743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3FB950"/>
                </a:solidFill>
                <a:latin typeface="JetBrains Mono"/>
              </a:rPr>
              <a:t>✓ ДАННЫЕ ГОТОВЫ ДЛЯ АГЕНТА, ЕСЛИ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715768"/>
            <a:ext cx="4928616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FB950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Типизированы (числа — числа, даты — даты)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3FB950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По canonical-схеме с обязательными полями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3FB950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С provenance (видно, из какого источника)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3FB950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Со свежестью/TTL — протухшее не отдаётся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3FB950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Выбираемы: фильтр/запрос, а не «весь дамп»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1965960"/>
            <a:ext cx="5431536" cy="356616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8" y="2167128"/>
            <a:ext cx="49743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F4D4F"/>
                </a:solidFill>
                <a:latin typeface="JetBrains Mono"/>
              </a:rPr>
              <a:t>✗ ДАННЫЕ СЫРЫЕ, ЕСЛИ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8" y="2715768"/>
            <a:ext cx="4928616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4D4F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PDF/HTML/скриншоты «как есть»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FF4D4F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Смешаны единицы и форматы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FF4D4F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Непонятно, откуда цифра и когда снята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FF4D4F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Нельзя проверить актуальность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FF4D4F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Только целиком — не влезает в контекст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6EDF3"/>
                </a:solidFill>
                <a:latin typeface="Geist"/>
              </a:rPr>
              <a:t>Как это делать в 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70432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8A5"/>
                </a:solidFill>
                <a:latin typeface="Geist"/>
              </a:rPr>
              <a:t>Агент собирается через MCP-инструменты; данные готовит Data Plane; роли — мульти-агенты.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651052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975"/>
                </a:solidFill>
                <a:latin typeface="Geist"/>
              </a:rPr>
              <a:t>AI Product Engineer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5"/>
                </a:solidFill>
                <a:latin typeface="JetBrains Mono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65960"/>
            <a:ext cx="5486400" cy="3977639"/>
          </a:xfrm>
          <a:prstGeom prst="roundRect">
            <a:avLst/>
          </a:prstGeom>
          <a:solidFill>
            <a:srgbClr val="0E141C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148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B8CFF"/>
                </a:solidFill>
                <a:latin typeface="JetBrains Mono"/>
              </a:rPr>
              <a:t>Данные → canonical JSON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569464"/>
            <a:ext cx="4983480" cy="320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975"/>
                </a:solidFill>
                <a:latin typeface="JetBrains Mono"/>
              </a:rPr>
              <a:t># рецепт: источник -&gt; чистый JSON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E6EDF3"/>
                </a:solidFill>
                <a:latin typeface="JetBrains Mono"/>
              </a:rPr>
              <a:t>/data new sales      # шаблон рецепта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E6EDF3"/>
                </a:solidFill>
                <a:latin typeface="JetBrains Mono"/>
              </a:rPr>
              <a:t>/data run sales      # csv/json/http -&gt;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8B98A5"/>
                </a:solidFill>
                <a:latin typeface="JetBrains Mono"/>
              </a:rPr>
              <a:t>  canonical JSONL (schema/provenance/ttl)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E6EDF3"/>
                </a:solidFill>
                <a:latin typeface="JetBrains Mono"/>
              </a:rPr>
              <a:t>/data query sales date=2026-10-01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E6EDF3"/>
                </a:solidFill>
                <a:latin typeface="JetBrains Mono"/>
              </a:rPr>
              <a:t>/data schema sales   # контракт полей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8B98A5"/>
                </a:solidFill>
                <a:latin typeface="JetBrains Mono"/>
              </a:rPr>
              <a:t/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5C6975"/>
                </a:solidFill>
                <a:latin typeface="JetBrains Mono"/>
              </a:rPr>
              <a:t># агент берёт данные тулом data_query,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5C6975"/>
                </a:solidFill>
                <a:latin typeface="JetBrains Mono"/>
              </a:rPr>
              <a:t># а не «читает папку» — видит типы и схему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965960"/>
            <a:ext cx="5486400" cy="3977639"/>
          </a:xfrm>
          <a:prstGeom prst="roundRect">
            <a:avLst/>
          </a:prstGeom>
          <a:solidFill>
            <a:srgbClr val="0E141C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2148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B8CFF"/>
                </a:solidFill>
                <a:latin typeface="JetBrains Mono"/>
              </a:rPr>
              <a:t>Loop, инструменты, роли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9944" y="2569464"/>
            <a:ext cx="4983480" cy="320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E6EDF3"/>
                </a:solidFill>
                <a:latin typeface="JetBrains Mono"/>
              </a:rPr>
              <a:t>ape code "собери агента: loop, 2 tools,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8B98A5"/>
                </a:solidFill>
                <a:latin typeface="JetBrains Mono"/>
              </a:rPr>
              <a:t>  structured output (JSON schema),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8B98A5"/>
                </a:solidFill>
                <a:latin typeface="JetBrains Mono"/>
              </a:rPr>
              <a:t>  условие остановки и лимит шагов"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8B98A5"/>
                </a:solidFill>
                <a:latin typeface="JetBrains Mono"/>
              </a:rPr>
              <a:t/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5C6975"/>
                </a:solidFill>
                <a:latin typeface="JetBrains Mono"/>
              </a:rPr>
              <a:t># несколько ролей параллельно: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E6EDF3"/>
                </a:solidFill>
                <a:latin typeface="JetBrains Mono"/>
              </a:rPr>
              <a:t>/agents по @data.csv собери отчёт,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8B98A5"/>
                </a:solidFill>
                <a:latin typeface="JetBrains Mono"/>
              </a:rPr>
              <a:t>  найди аномалии, предложи 3 решения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8B98A5"/>
                </a:solidFill>
                <a:latin typeface="JetBrains Mono"/>
              </a:rPr>
              <a:t/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E6EDF3"/>
                </a:solidFill>
                <a:latin typeface="JetBrains Mono"/>
              </a:rPr>
              <a:t>/memory   /distill    # память шага/дистилляция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6EDF3"/>
                </a:solidFill>
                <a:latin typeface="Geist"/>
              </a:rPr>
              <a:t>ДЗ: разработка агента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70432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8A5"/>
                </a:solidFill>
                <a:latin typeface="Geist"/>
              </a:rPr>
              <a:t>Стартуешь своего агента. Полная спека — docs/lectures/dz-agent-anatomy.md.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651052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975"/>
                </a:solidFill>
                <a:latin typeface="Geist"/>
              </a:rPr>
              <a:t>AI Product Engineer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5"/>
                </a:solidFill>
                <a:latin typeface="JetBrains Mono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74519"/>
            <a:ext cx="11091672" cy="105156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5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57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B8CFF"/>
                </a:solidFill>
                <a:latin typeface="Geist"/>
              </a:rPr>
              <a:t>Собрать минимального рабочего агента своего pet-проекта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603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8A5"/>
                </a:solidFill>
                <a:latin typeface="Geist"/>
              </a:rPr>
              <a:t>с честной анатомией и правильно поданными данными — не «промпт в цикле»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00400"/>
            <a:ext cx="5431536" cy="246888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401568"/>
            <a:ext cx="49743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3FB950"/>
                </a:solidFill>
                <a:latin typeface="JetBrains Mono"/>
              </a:rPr>
              <a:t>✓ ЧТО СДАТЬ (В РЕПО)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950208"/>
            <a:ext cx="492861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FB950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Схема анатомии агента (8 компонентов) на 1 стр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3FB950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Выбранный паттерн (ReAct/planner/…) и почему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3FB950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Код: loop + ≥2 tools + memory + structured output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3FB950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Условие остановки и лимит шагов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3200400"/>
            <a:ext cx="5431536" cy="246888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3401568"/>
            <a:ext cx="49743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F4D4F"/>
                </a:solidFill>
                <a:latin typeface="JetBrains Mono"/>
              </a:rPr>
              <a:t>✗ ДАННЫЕ (ОБЯЗАТЕЛЬНО)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8" y="3950208"/>
            <a:ext cx="492861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4D4F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1 Data-recipe: источник → canonical JSON (/data)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FF4D4F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Схема сущности с типами и обязательными полями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FF4D4F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Агент берёт данные через data_query, не сырьё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FF4D4F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5 строк: где агент ≠ человек в твоих данных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6EDF3"/>
                </a:solidFill>
                <a:latin typeface="Geist"/>
              </a:rPr>
              <a:t>Мост: куда дальше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0" y="651052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975"/>
                </a:solidFill>
                <a:latin typeface="Geist"/>
              </a:rPr>
              <a:t>AI Product Engineer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5"/>
                </a:solidFill>
                <a:latin typeface="JetBrains Mono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77440"/>
            <a:ext cx="1852574" cy="128016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505456"/>
            <a:ext cx="157825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B8CFF"/>
                </a:solidFill>
                <a:latin typeface="Geist"/>
              </a:rPr>
              <a:t>w6l1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852928"/>
            <a:ext cx="1578254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8B98A5"/>
                </a:solidFill>
                <a:latin typeface="Geist"/>
              </a:rPr>
              <a:t>анатомия +
данные (здесь)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01214" y="2816351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5C6975"/>
                </a:solidFill>
                <a:latin typeface="Geist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58414" y="2377440"/>
            <a:ext cx="1852574" cy="128016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95574" y="2505456"/>
            <a:ext cx="157825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B8CFF"/>
                </a:solidFill>
                <a:latin typeface="Geist"/>
              </a:rPr>
              <a:t>w6l2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5574" y="2852928"/>
            <a:ext cx="1578254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8B98A5"/>
                </a:solidFill>
                <a:latin typeface="Geist"/>
              </a:rPr>
              <a:t>hard prompts +
context eng.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10988" y="2816351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5C6975"/>
                </a:solidFill>
                <a:latin typeface="Geist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68188" y="2377440"/>
            <a:ext cx="1852574" cy="128016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5348" y="2505456"/>
            <a:ext cx="157825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B8CFF"/>
                </a:solidFill>
                <a:latin typeface="Geist"/>
              </a:rPr>
              <a:t>нед.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5348" y="2852928"/>
            <a:ext cx="1578254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8B98A5"/>
                </a:solidFill>
                <a:latin typeface="Geist"/>
              </a:rPr>
              <a:t>TDD +
subagent-роли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20763" y="2816351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5C6975"/>
                </a:solidFill>
                <a:latin typeface="Geist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77963" y="2377440"/>
            <a:ext cx="1852574" cy="128016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15123" y="2505456"/>
            <a:ext cx="157825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B8CFF"/>
                </a:solidFill>
                <a:latin typeface="Geist"/>
              </a:rPr>
              <a:t>нед. 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15123" y="2852928"/>
            <a:ext cx="1578254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8B98A5"/>
                </a:solidFill>
                <a:latin typeface="Geist"/>
              </a:rPr>
              <a:t>память +
границы + cost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30537" y="2816351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5C6975"/>
                </a:solidFill>
                <a:latin typeface="Geist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87737" y="2377440"/>
            <a:ext cx="1852574" cy="128016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24897" y="2505456"/>
            <a:ext cx="157825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B8CFF"/>
                </a:solidFill>
                <a:latin typeface="Geist"/>
              </a:rPr>
              <a:t>КТ2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24897" y="2852928"/>
            <a:ext cx="1578254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8B98A5"/>
                </a:solidFill>
                <a:latin typeface="Geist"/>
              </a:rPr>
              <a:t>защита
анатомии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114800"/>
            <a:ext cx="11064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8A5"/>
                </a:solidFill>
                <a:latin typeface="Geist"/>
              </a:rPr>
              <a:t>Сегодня — скелет и данные. На w6l2 отточим system prompt (hard prompt) и научимся управлять контекстом. В неделях 7–8 добавим тесты, роли sub-agent'ов, двухуровневую память и cost-контроли. На КТ2 анатомия агента — отдельный пункт рубрики (10 баллов).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