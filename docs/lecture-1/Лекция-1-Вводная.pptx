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74" r:id="rId20"/>
    <p:sldId id="283" r:id="rId34"/>
    <p:sldId id="284" r:id="rId35"/>
    <p:sldId id="285" r:id="rId36"/>
    <p:sldId id="286" r:id="rId37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868680" y="269748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6868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ЛЕКЦИЯ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Вводная: о чём этот курс и как мы будем работать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в одиночку довести AI-продукт от идеи до работающего решения —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 почему это самый востребованный инженерный навык 2026 года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Передовая инженерная школа · дисциплина «Проектная деятельность» · домен ВСМ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 чём поговорим сегодня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173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Кто такой Product Engineer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4173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 почему это не «ещё один разработчик»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1284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вы построите за семестр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21284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свой продукт от идеи до реальных пользователей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0083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083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устроена работа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00837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4 контура, сквозной проект, контрольные точки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0390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Чем будем пользоваться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80390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CLI-агенты, RouteAI, MCP — рабочий стек, не игрушки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31520" y="45994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59943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Методология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459943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чём стоим: индустриальные стандарты, не самодеятельность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31520" y="53949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3949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делаем сегодня вечером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53949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собираем обвязку: репозиторий, скиллы, первые агенты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За последний год разработка изменилась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разработчиков используют AI-инструменты ежедневно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64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DORA 2025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70832" y="1463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645152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~41%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нового кода в индустрии генерируется с помощью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3364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Octoverse 2025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93024" y="1463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467344" y="16916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2 часа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67344" y="2560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медианное время работы инженера с AI-агентами в день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3364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industry 2025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Но вот в чём соль: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пишет код быстрее человека. Но решает,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строить, для кого, надёжно ли это и сколько стоит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 — по-прежнему человек. Именно эти навыки — архитектура, продуктовое мышление, контроль качества и стоимости — становятся главными. Кодинг превращается из узкого места в обычную операцию.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Кто такой Product Engineer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Один человек, который ведёт продукт от идеи до релиза: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придумывает · проверяет · проектирует · кодит · мерит · чинит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Это не...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full-stack «дайте мне готовое ТЗ»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PM «давайте обсудим стратегию»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ML-инженер, который обучает модели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...а инженер с продуктовой ответственностью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4290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понимает, ЗАЧЕМ и КОМУ нужен продукт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использует AI как основной инструмент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отвечает за результат у реального пользователя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«Производительность 10× достигается тогда, когда человек перестаёт мешать агентам»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  — Шевченко, Соколенко М.В. · РУТ (МИИТ)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Эта роль уже есть на рынке — и хорошо оплачивается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 мире её называют Forward-Deployed Engineer (FDE). Не консультант с презентацией, а инженер, который строит работающую систему прямо у заказчика и отвечает за неё.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24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Forward-Deployed Engineer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DC8C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$200–300K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PhD не требуется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2148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645152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724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Applied AI Engineer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DC8C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$280–300K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context engineering, evals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21488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467344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27249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Forward-Deployed Engineer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DC8C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~$265K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полный стек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45720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важно: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собеседовании 2026 спрашивают не «знаешь ли PyTorch», а «как ты мерил качество и как дебажил галлюцинации». К концу курса у вас будет ответ — не в теории, а с цифрами из своего проекта.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Портфолио реального проекта бьёт диплом.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Главный сдвиг: от AI-assisted к AI-native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«инструмент есть, мышление прежнее»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Есть задача — открываю чат в браузере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Копирую код туда, описываю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Копирую ответ обратно, правлю руками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–"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= справочник, к которому иногда хожу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30175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30952" cy="3657600"/>
          </a:xfrm>
          <a:prstGeom prst="roundRect">
            <a:avLst>
              <a:gd name="adj" fmla="val 2500"/>
            </a:avLst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«AI живёт прямо в моём коде»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Агент читает мой проект целиком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Описываю, что хочу — агент пишет и правит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Я ревьюю и направляю, а не печатаю</a:t>
            </a:r>
            <a:endParaRPr lang="en-US" sz="1250" dirty="0"/>
          </a:p>
          <a:p>
            <a:pPr marL="127000" indent="-127000">
              <a:lnSpc>
                <a:spcPts val="1500"/>
              </a:lnSpc>
              <a:spcAft>
                <a:spcPts val="1100"/>
              </a:spcAft>
              <a:buSzPct val="100000"/>
              <a:buChar char="✓"/>
            </a:pPr>
            <a:r>
              <a:rPr lang="en-US" sz="125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Первый вопрос всегда: «как это с AI?»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Этот курс — про правый столбец. Мы меняем не инструмент, а привычку по умолчанию.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вы построите за семестр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Один сквозной проект на все 15 недель.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Вы работаете над одной идеей от первого дня до защиты. К финалу — не учебное задание, а работающий продукт с реальными пользователями.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РУКАХ В КОНЦЕ КУРСА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4564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3364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Работающий продукт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58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 3–5 реальными пользователями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0832" y="3108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99432" y="33375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34564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3792" y="3364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Design doc + ADR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599432" y="3858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проектная документация уровня индустрии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93024" y="310896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421624" y="33375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34564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15984" y="3364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Тесты и evals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21624" y="3858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доказательство, что оно работает, а не «на демо ок»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96519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Cost-модель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5367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сколько стоит один пользователь в месяц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70832" y="4617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599432" y="484632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96519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93792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Бизнес-модель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599432" y="5367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одной странице: кто платит и сколько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93024" y="46177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8421624" y="484632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496" y="496519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15984" y="4873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Публичный репозиторий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8421624" y="5367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 полной историей — ваш главный аргумент на найме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устроена работа: 4 контура одновременно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 последовательно «сначала продукт, потом код», а параллельно через все 15 недель. Настоящий продукт растёт по всем осям сразу.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79192" cy="356616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13916" y="233172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6562" y="24743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Продуктовый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747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Зачем и для кого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7764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ICP, JTBD, ценность, обратная связь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2057400"/>
            <a:ext cx="2679192" cy="356616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21124" y="233172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770" y="24743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93008" y="30175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Исследовательский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93008" y="34747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Работает ли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38728" y="397764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гипотезы, evals, метрики качества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2057400"/>
            <a:ext cx="2679192" cy="356616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228332" y="233172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978" y="24743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0216" y="30175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Инженерный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0216" y="34747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Надёжно ли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345936" y="397764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design doc, ADR, тесты, границы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0264" y="2057400"/>
            <a:ext cx="2679192" cy="356616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10035540" y="233172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8186" y="247436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07424" y="30175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07424" y="34747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Окупается ли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53144" y="397764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cost-модель, unit-экономика, цена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Карта курса: 5 блоков за 15 недель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Блок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63040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нед. 1–3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46304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Discovery + ICP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46304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Найти реальную проблему и выбрать архитектуру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12680" y="1682496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12680" y="1682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КТ1 — защита идеи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432304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Блок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432304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нед. 4–6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432304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3230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Design doc, ADR, cost-модель до кода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12680" y="265176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001268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КТ2 — дизайн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340156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Блок 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401568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нед. 7–10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401568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40156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Собрать MVP: TDD, границы, MCP, RAG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12680" y="3621024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0012680" y="3621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КТ3 — MVP + метрики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20" y="4370832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Блок 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370832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нед. 11–13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437083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Оценка + экономика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37083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Evals, unit-экономика, реальные пользователи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12680" y="459028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10012680" y="4590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КТ4 — цифры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34009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731520" y="5340096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Блок 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103120" y="5340096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нед. 14–15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5340096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Питч + защита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340096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Питч-дек по стандарту Y Combinator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12680" y="555955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01268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Финал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Контрольные точки: не экзамен, а веха проекта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Каждая КТ — это защита реального состояния вашего продукта перед комиссией. Готовитесь не к «сдать зачёт», а к «показать, что продукт живёт».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5740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Защита идеи: ICP, JTBD, выбор архитектуры, живое интервью с экспертом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182112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9923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неделя 6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999232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Дизайн: design doc + ADR с cost-анализом, анатомия агента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123944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4106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неделя 10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941064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Работающий MVP с метриками и cost-проекцией на демо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5065776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КТ4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82896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неделя 13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882896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Реальные пользователи: подтверждённые и опровергнутые гипотезы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чём стоим: три индустриальные базы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Мы не изобретаем методологию на ходу. Курс опирается на проверенные в индустрии стандарты — их можно цитировать в резюме и на собеседовании.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ML System Design Doc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Reliable ML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проектировать ML-систему как продукт. Применяется в магистратуре ИТМО.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45152" y="237744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2520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5152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Agent Design Methodology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welltraum, MIT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645152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проектировать агентов: requirements, architecture, evaluation, release.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93024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467344" y="237744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5200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7344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SDD + TDD + ADR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67344" y="36758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Соколенко М.В. · РУТ (МИИТ)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467344" y="40690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Инженерная дисциплина: спецификация → тесты → документирование решений.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Принцип №7: учим протоколам, а не фреймворкам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MCP, OpenAI-совместимый API, structured output, ADR — это стандарты, которые живут годами.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LangChain, LlamaIndex, OpenClaw — полезны, но меняются каждые 6 месяцев.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Почему так: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Вы поймёте, что под капотом ЛЮБОГО фреймворка — и выберете его осознанно, а не по хайпу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Никакого «agent.run() и молюсь, чтобы сработало» без понимания происходящего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Фреймворки проходим обзорно (неделя 9). Хотите использовать в проекте — пишете ADR с обоснованием</a:t>
            </a:r>
            <a:endParaRPr lang="en-US" sz="1400" dirty="0"/>
          </a:p>
          <a:p>
            <a:pPr marL="152400" indent="-152400">
              <a:lnSpc>
                <a:spcPts val="1700"/>
              </a:lnSpc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После курса освоите любой новый фреймворк за час, потому что знаете принципы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Наш рабочий инструмент — CLI-агенты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Не чат в браузере, а агент, который живёт в терминале и работает прямо в вашем репозитории: читает файлы, пишет код, запускает тесты, делает коммиты. Все они говорят на одном протоколе — освоив один, пересядете на любой за день.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9192" cy="278892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36776" y="242316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35" y="25539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9476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эталонный UX, сильнее всего в архитектуре и рефакторинге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2194560"/>
            <a:ext cx="2679192" cy="278892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443984" y="242316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43" y="25539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93008" y="3063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93008" y="34290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IDE + агент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538728" y="379476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привычная IDE с AI-панелью — мягкий вход для новичков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2194560"/>
            <a:ext cx="2679192" cy="278892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251192" y="242316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51" y="255391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0216" y="3063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Kimi CLI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00216" y="34290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Moonshot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345936" y="379476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open-source, работает с дешёвыми моделями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70264" y="2194560"/>
            <a:ext cx="2679192" cy="2788920"/>
          </a:xfrm>
          <a:prstGeom prst="roundRect">
            <a:avLst>
              <a:gd name="adj" fmla="val 341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10058400" y="242316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25539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07424" y="306324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DeepSeek agents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107424" y="342900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153144" y="3794760"/>
            <a:ext cx="2313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сильный reasoning, экономичный на длинных задачах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Сегодня вечером поставим и попробуем каждый на живом примере. Выберете тот, что зайдёт вам.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Как устроен доступ к моделям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Вы не получаете ключи от LLM напрямую. Всё идёт через курсовой сервер — так мы контролируем расходы, ведём учёт и даём одинаковый доступ всем.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148840" y="251460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486" y="2657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Ваш CLI-агент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локально у вас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434840" y="22860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669280" y="251460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6" y="26572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Курсовой MCP-сервер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скиллы, cost-журнал, JWT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7955280" y="22860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9189720" y="251460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366" y="26572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924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RouteAI / локальный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09244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Qwen, DeepSeek, Gemini + модели ПИШ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44805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Ключей на руках нет — курсовой бюджет не слить</a:t>
            </a:r>
            <a:endParaRPr lang="en-US" sz="1300" dirty="0"/>
          </a:p>
          <a:p>
            <a:pPr marL="127000" indent="-1270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Каждый ваш запрос виден в cost-журнале</a:t>
            </a:r>
            <a:endParaRPr lang="en-US" sz="1300" dirty="0"/>
          </a:p>
          <a:p>
            <a:pPr marL="127000" indent="-1270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Модель упала — каскад сам переключит на следующую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Деньги считаем с первой недели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A22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5B8CFF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AI-продукт — это не SaaS.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Каждый запрос к модели стоит денег. Продукт, который «работает», но убыточен на каждом пользователе — это не продукт. Поэтому cost — не тема последней недели, а привычка с первого дня.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306324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1939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Каждый вызов — в журнал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Автоматически, с привязкой к вам. В личном кабинете видите свои расходы в рублях.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283464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45152" y="306324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911" y="31939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5152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Cost-of-AI ADR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343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Уже на неделе 5 считаете: сколько стоит один пользователь и что будет при росте ×100.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3024" y="283464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67344" y="3063240"/>
            <a:ext cx="502920" cy="50292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103" y="31939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67344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Защищаете на цифрах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467344" y="43434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КТ3 показываете cost/запрос и проекцию нагрузки. «Дорого» — это провал, который видно заранее.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Где живёт курс: домен ВСМ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Курс — инженерное ядро дисциплины «Проектная деятельность». Ваши проекты — в домене высокоскоростных магистралей, а рядом, в соседней группе, — магистры-железнодорожники.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395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Домен даёт реальные задачи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RAG по нормативной документации</a:t>
            </a:r>
            <a:endParaRPr lang="en-US" sz="1200" dirty="0"/>
          </a:p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Экспертные системы для путевых рабочих</a:t>
            </a:r>
            <a:endParaRPr lang="en-US" sz="1200" dirty="0"/>
          </a:p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Анализ телеметрии инфраструктуры</a:t>
            </a:r>
            <a:endParaRPr lang="en-US" sz="1200" dirty="0"/>
          </a:p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Контроль строительства по данным БПЛА</a:t>
            </a:r>
            <a:endParaRPr lang="en-US" sz="1200" dirty="0"/>
          </a:p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Персонализация пассажирского опыта</a:t>
            </a:r>
            <a:endParaRPr lang="en-US" sz="1200" dirty="0"/>
          </a:p>
          <a:p>
            <a:pPr marL="127000" indent="-127000">
              <a:lnSpc>
                <a:spcPts val="145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Диспетчерские copilot'ы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214884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19672" y="237744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5200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2395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Эксперты — в соседней аудитории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32004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Магистры направления «Управление инфраструктурой ВСМ» — опытные железнодорожники. Это ваши реальные пользователи и источник доменной экспертизы.
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На неделе 3 вы обкатаете вопросы на LLM-симуляции, а потом пойдёте на живое интервью к реальному эксперту. Симуляция — тренажёр, не замена.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нужно от вас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15 часов в неделю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Это не «слушать лекции», а разрабатывать продукт. Курс делается руками.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19714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Готовность к публичности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Ваш продукт увидят реальные люди. Это страшно и полезно.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1660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Английский на чтение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Документация моделей, MCP, инструментов — на английском.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74904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1A222E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416600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База программирования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Python или TypeScript на уровне «могу сделать REST-сервис».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Что делаем сегодня вечером: собираем обвязку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Теория закончилась. Дальше — руки. К концу вечера у каждого работает окружение и первый агент.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Git-репозиторий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65960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Создаём ai-pe-{фамилия} со структурой курса: /design /adr /src /evals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3136392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3522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Ставим CLI-агент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935224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Claude Code / Cursor / Kimi CLI / DeepSeek — пробуем на живом примере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0448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105656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0448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Подключаем к серверу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904488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JWT-доступ к курсовому MCP, первый запрос, проверяем cost-журнал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21821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87375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Пишем первые скиллы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873752"/>
            <a:ext cx="6949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Разбираем, как устроен скилл, и собираем пару своих под проект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А теперь — демо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Прямо сейчас, без слайдов, соберу работающий MVP за 45 минут.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Вы увидите скорость своими глазами — а вечером повторите сами.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6583680" cy="640080"/>
          </a:xfrm>
          <a:prstGeom prst="roundRect">
            <a:avLst>
              <a:gd name="adj" fmla="val 14286"/>
            </a:avLst>
          </a:prstGeom>
          <a:solidFill>
            <a:srgbClr val="5B8CF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Вопрос первого дня: «а как это можно сделать с AI?»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Добро пожаловать в AI Product Engineer.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AI Product Engineer · Лекция 1 · Вводная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8A5"/>
                </a:solidFill>
                <a:latin typeface="Geist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Как подключиться к проекту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Один вход через шлюз. Прямого ключа к моделям у тебя нет — и не нужно.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766560" cy="411480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СТАРТ ЗА 2 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8CFF"/>
                </a:solidFill>
                <a:latin typeface="JetBrains Mono"/>
              </a:rPr>
              <a:t>1  </a:t>
            </a:r>
            <a:r>
              <a:rPr sz="1250" b="0">
                <a:solidFill>
                  <a:srgbClr val="E6EDF3"/>
                </a:solidFill>
                <a:latin typeface="Geist"/>
              </a:rPr>
              <a:t>Установи CLI курса:  pip install engineer-ai-cli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2  </a:t>
            </a:r>
            <a:r>
              <a:rPr sz="1250" b="0">
                <a:solidFill>
                  <a:srgbClr val="E6EDF3"/>
                </a:solidFill>
                <a:latin typeface="Geist"/>
              </a:rPr>
              <a:t>ape login — вход через GitHub, токен сам сохранится
    и будет обновляться (ничего копировать не надо).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3  </a:t>
            </a:r>
            <a:r>
              <a:rPr sz="1250" b="0">
                <a:solidFill>
                  <a:srgbClr val="E6EDF3"/>
                </a:solidFill>
                <a:latin typeface="Geist"/>
              </a:rPr>
              <a:t>ape code "…" — первый код через шлюз.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4  </a:t>
            </a:r>
            <a:r>
              <a:rPr sz="1250" b="0">
                <a:solidFill>
                  <a:srgbClr val="E6EDF3"/>
                </a:solidFill>
                <a:latin typeface="Geist"/>
              </a:rPr>
              <a:t>Стартовые скиллы — в репозитории курса (skills/).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5  </a:t>
            </a:r>
            <a:r>
              <a:rPr sz="1250" b="0">
                <a:solidFill>
                  <a:srgbClr val="E6EDF3"/>
                </a:solidFill>
                <a:latin typeface="Geist"/>
              </a:rPr>
              <a:t>Все вызовы метрятся в cost-журнал.
    Лимит один: 25M токенов в неделю.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11680"/>
            <a:ext cx="3977639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240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B0F14"/>
                </a:solidFill>
                <a:latin typeface="JetBrains Mono"/>
              </a:rPr>
              <a:t>РЕПОЗИТОРИЙ КУРСА</a:t>
            </a:r>
          </a:p>
        </p:txBody>
      </p:sp>
      <p:pic>
        <p:nvPicPr>
          <p:cNvPr id="12" name="Picture 11" descr="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697480"/>
            <a:ext cx="2514600" cy="2514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26679" y="5349240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0F14"/>
                </a:solidFill>
                <a:latin typeface="JetBrains Mono"/>
              </a:rPr>
              <a:t>github.com/mkhlsokolenko-ai/
ai-product-engineer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Лимиты токенов и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Cost с первой недели. Каждый вызов виден в Postgres, у тебя есть личный кабинет.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91672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B8CFF"/>
                </a:solidFill>
                <a:latin typeface="JetBrains Mono"/>
              </a:rPr>
              <a:t>25M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Geist"/>
              </a:rPr>
              <a:t>токенов в неделю — единственный лимит на студента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8A5"/>
                </a:solidFill>
                <a:latin typeface="Geist"/>
              </a:rPr>
              <a:t>Сессий и подключений не ограничиваем: логинься и переподключайся сколько нужно.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МАРШРУТИЗАЦИЯ ПО ТИПУ ЗАДАЧИ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11091672" cy="54864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87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ape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0873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JetBrains Mono"/>
              </a:rPr>
              <a:t>Qwen3.8-27B · self-host RTX PRO 5000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0873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8A5"/>
                </a:solidFill>
                <a:latin typeface="Geist"/>
              </a:rPr>
              <a:t>кодинг, pet-проект (бесплатно из квоты)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17720"/>
            <a:ext cx="11091672" cy="54864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274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ape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7274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JetBrains Mono"/>
              </a:rPr>
              <a:t>только DeepSeek · V4-Pro/Flash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72744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8A5"/>
                </a:solidFill>
                <a:latin typeface="Geist"/>
              </a:rPr>
              <a:t>discovery, спеки, eval-судья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91672" cy="54864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675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3675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JetBrains Mono"/>
              </a:rPr>
              <a:t>RouteAI-каскад · Qwen/DeepSeek/Kimi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3675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8A5"/>
                </a:solidFill>
                <a:latin typeface="Geist"/>
              </a:rPr>
              <a:t>разнообразие и 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97880"/>
            <a:ext cx="11091672" cy="54864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007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lecturer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00760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EDF3"/>
                </a:solidFill>
                <a:latin typeface="JetBrains Mono"/>
              </a:rPr>
              <a:t>Claude · Opus/Sonnet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600760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B98A5"/>
                </a:solidFill>
                <a:latin typeface="Geist"/>
              </a:rPr>
              <a:t>эталон, ревью — не на студентах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5"/>
                </a:solidFill>
                <a:latin typeface="Geist"/>
              </a:rPr>
              <a:t>Упёрся в 25M → chat вернёт quota_exceeded: лимит сбросится в понедельник. ape usage — сколько осталось.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Хранилище проектов: правила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S3-совместимое (MinIO на server-1). У каждого свой префикс, изоляция.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9776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B8CFF"/>
                </a:solidFill>
                <a:latin typeface="JetBrains Mono"/>
              </a:rPr>
              <a:t>ЧТО ХРАНИМ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889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Документы для RAG (PDF, DOCX, MD)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Открытые / синтетические датасеты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Артефакты проекта, конфиги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Eval-датасеты и результаты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39776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5B8CFF"/>
                </a:solidFill>
                <a:latin typeface="JetBrains Mono"/>
              </a:rPr>
              <a:t>КАК УСТРОЕНО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Бакет projects/&lt;студент&gt;/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Presigned URL через портал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Документ → OCR → embed → Qdrant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Лимит 600 МБ на студента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39776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НЕЛЬЗЯ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78892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Секреты, API-ключи, токены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Персональные данные (ФЗ-152)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Прод-данные партнёров — синтетика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Веса больших моделей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975"/>
                </a:solidFill>
                <a:latin typeface="Geist"/>
              </a:rPr>
              <a:t>600 МБ на простой продукт хватает. Загрузка и бэкап — через портал engineer-ai.pro; том снапшотится.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Вход через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Никаких паролей и токенов вручную. Один аккаунт GitHub — и портал, и CLI.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766560" cy="411480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КАК ВОЙТИ (2 ПУТИ)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8CFF"/>
                </a:solidFill>
                <a:latin typeface="JetBrains Mono"/>
              </a:rPr>
              <a:t>A  </a:t>
            </a:r>
            <a:r>
              <a:rPr sz="1200" b="0">
                <a:solidFill>
                  <a:srgbClr val="E6EDF3"/>
                </a:solidFill>
                <a:latin typeface="Geist"/>
              </a:rPr>
              <a:t>Портал: открой engineer-ai.pro →
    «Продолжить с GitHub».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B  </a:t>
            </a:r>
            <a:r>
              <a:rPr sz="1200" b="0">
                <a:solidFill>
                  <a:srgbClr val="E6EDF3"/>
                </a:solidFill>
                <a:latin typeface="Geist"/>
              </a:rPr>
              <a:t>CLI: набери  ape login  → откроется браузер.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1  </a:t>
            </a:r>
            <a:r>
              <a:rPr sz="1200" b="0">
                <a:solidFill>
                  <a:srgbClr val="E6EDF3"/>
                </a:solidFill>
                <a:latin typeface="Geist"/>
              </a:rPr>
              <a:t>Нажми «Continue with GitHub» и подтверди доступ
    (в первый раз GitHub спросит разрешение).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2  </a:t>
            </a:r>
            <a:r>
              <a:rPr sz="1200" b="0">
                <a:solidFill>
                  <a:srgbClr val="E6EDF3"/>
                </a:solidFill>
                <a:latin typeface="Geist"/>
              </a:rPr>
              <a:t>Готово: вернёшься в портал / терминал уже внутри.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5B8CFF"/>
                </a:solidFill>
                <a:latin typeface="JetBrains Mono"/>
              </a:rPr>
              <a:t>3  </a:t>
            </a:r>
            <a:r>
              <a:rPr sz="1200" b="0">
                <a:solidFill>
                  <a:srgbClr val="E6EDF3"/>
                </a:solidFill>
                <a:latin typeface="Geist"/>
              </a:rPr>
              <a:t>Токен сохраняется и обновляется сам —
    копировать ничего не нужно.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11680"/>
            <a:ext cx="3977639" cy="4114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ЧТО ДАЛЬШЕ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83464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Роль student выдаётся автоматически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Один вход — доступ к моделям, RAG и квоте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 CLI: ape code / ape ask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401 «сессия истекла» → просто ape login заново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Настройка входа · для лектора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Разовая настройка GitHub-входа. Студентам этот слайд не нужен.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ДЕЛАЕТСЯ ОДИН РАЗ ПРИ РАЗВЁРТЫВАНИИ КУРСА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86400" cy="37490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1. GITHUB OAUTH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Settings → Developer settings → OAuth Apps → New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Homepage: https://engineer-ai.pro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Authorization callback URL — см. ниже (1-в-1!)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Register → Client ID + Generate client secret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B8CFF"/>
                </a:solidFill>
                <a:latin typeface="JetBrains Mono"/>
              </a:rPr>
              <a:t>https://auth.engineer-ai.pro/realms/
ai-product-engineer/broker/github/endpoint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194560"/>
            <a:ext cx="5486400" cy="37490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423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2. KEYCLOAK · IDENTITY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971800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auth.engineer-ai.pro/admin → realm ai-product-engineer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Identity providers → Add → GitHub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Вставь Client ID и Client Secret → Save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Роль student — default, выдаётся сама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Проверка: Account → Sign in → GitHub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CLI курса: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Своя обёртка над шлюзом. Ставится за минуту, вход через GitHub, токен обновляется сам.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766560" cy="411480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УСТАНОВКА И СТАРТ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1  </a:t>
            </a:r>
            <a:r>
              <a:rPr sz="1200" b="0">
                <a:solidFill>
                  <a:srgbClr val="E6EDF3"/>
                </a:solidFill>
                <a:latin typeface="JetBrains Mono"/>
              </a:rPr>
              <a:t>pip install engineer-ai-cli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     </a:t>
            </a:r>
            <a:r>
              <a:rPr sz="1200" b="0">
                <a:solidFill>
                  <a:srgbClr val="E6EDF3"/>
                </a:solidFill>
                <a:latin typeface="JetBrains Mono"/>
              </a:rPr>
              <a:t>(или скачать один файл ape.py — зависимостей нет)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2  </a:t>
            </a:r>
            <a:r>
              <a:rPr sz="1200" b="0">
                <a:solidFill>
                  <a:srgbClr val="E6EDF3"/>
                </a:solidFill>
                <a:latin typeface="JetBrains Mono"/>
              </a:rPr>
              <a:t>ape login   → браузер, вход через GitHub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3  </a:t>
            </a:r>
            <a:r>
              <a:rPr sz="1200" b="0">
                <a:solidFill>
                  <a:srgbClr val="E6EDF3"/>
                </a:solidFill>
                <a:latin typeface="JetBrains Mono"/>
              </a:rPr>
              <a:t>ape code "напиши FastAPI /health с тестом"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4  </a:t>
            </a:r>
            <a:r>
              <a:rPr sz="1200" b="0">
                <a:solidFill>
                  <a:srgbClr val="E6EDF3"/>
                </a:solidFill>
                <a:latin typeface="JetBrains Mono"/>
              </a:rPr>
              <a:t>ape usage   → сколько токенов осталось за неделю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11680"/>
            <a:ext cx="3977639" cy="4114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ЧЕМ УДОБНО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88920"/>
            <a:ext cx="3520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00" b="0">
                <a:solidFill>
                  <a:srgbClr val="E6EDF3"/>
                </a:solidFill>
                <a:latin typeface="Geist"/>
              </a:rPr>
              <a:t>Один вход — GitHub, без ручного токена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00" b="0">
                <a:solidFill>
                  <a:srgbClr val="E6EDF3"/>
                </a:solidFill>
                <a:latin typeface="Geist"/>
              </a:rPr>
              <a:t>Авто-refresh: не ловишь 401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00" b="0">
                <a:solidFill>
                  <a:srgbClr val="E6EDF3"/>
                </a:solidFill>
                <a:latin typeface="Geist"/>
              </a:rPr>
              <a:t>Явный роутинг: code vs ask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00" b="0">
                <a:solidFill>
                  <a:srgbClr val="E6EDF3"/>
                </a:solidFill>
                <a:latin typeface="Geist"/>
              </a:rPr>
              <a:t>Та же квота и RAG, что у портала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00" b="0">
                <a:solidFill>
                  <a:srgbClr val="E6EDF3"/>
                </a:solidFill>
                <a:latin typeface="Geist"/>
              </a:rPr>
              <a:t>Чистый Python, ставится везде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ape: команды и когда что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Правило простое: пишешь код — code, думаешь/исследуешь — 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27889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APE CODE  →  QWEN3.8-27B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Генерация и правки кода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Быстро; из квоты — бесплатно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«Мышление вслух» выключено → чистый код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Self-host бокс курса (RTX PRO 5000)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27889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APE ASK  →  DEEPSEEK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743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Ресёрч, объяснения, сравнение подходов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Сильнее в рассуждениях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Discovery, спеки, разбор вариантов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Профиль research (дёшево на объёме)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1091672" cy="123444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166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ЕЩЁ КОМАНДЫ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E6EDF3"/>
                </a:solidFill>
                <a:latin typeface="JetBrains Mono"/>
              </a:rPr>
              <a:t>ape rag index ./docs   ·   ape rag search "…"   ·   ape usage   ·   ape whoami   ·   ape session new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Продвинутый режим: агенты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Когда перерастёшь ape — тем же аккаунтом подключай полноценного агента к MCP-шлюзу.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APE (СТАРТ, НЕДЕЛИ 1–3)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Одна команда — один ответ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Понимаешь, что уходит в модель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Явный контроль code / ask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Идеально для первых недель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468112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АГЕНТ (БЛОК ПРО АГЕНТОВ)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OpenCode / IDE как MCP-клиент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Endpoint: mcp.engineer-ai.pro/mcp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Инструменты: chat, rag_index / rag_search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spec → tests (TDD) → код → git, tool-calling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5"/>
                </a:solidFill>
                <a:latin typeface="Geist"/>
              </a:rPr>
              <a:t>Один токен работает и в ape, и в агенте. Начни с ape — никакого чёрного ящика, потом усложняй.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Исследование и отбор идей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От сырой идеи к защищаемой — через скиллы (папки в skills/, работают через ape ask).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DISCOVERY-КОНВЕЙЕР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91672" cy="658368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323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43230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Geist"/>
              </a:rPr>
              <a:t>собрать контекст: рынок, данные, аналоги, регуляторика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658368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icp-interviewer + jtbd-formulator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095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Geist"/>
              </a:rPr>
              <a:t>кто платящий пользователь и какую работу нанимает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91672" cy="658368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86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idea-scorer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867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Geist"/>
              </a:rPr>
              <a:t>оценить идею по рубрике 0–40 (боль, данные, экономика…)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11091672" cy="658368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640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idea-selector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640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Geist"/>
              </a:rPr>
              <a:t>сравнить N идей и выбрать одну обоснованно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59"/>
            <a:ext cx="11091672" cy="658368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412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B8CFF"/>
                </a:solidFill>
                <a:latin typeface="JetBrains Mono"/>
              </a:rPr>
              <a:t>devils-advocate + grill-me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541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Geist"/>
              </a:rPr>
              <a:t>прожать выбранную на прочность, найти где убьёт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5"/>
                </a:solidFill>
                <a:latin typeface="Geist"/>
              </a:rPr>
              <a:t>Каждый скилл критикует и уточняет, а не хвалит. Итог discovery — выбранная идея + её риски.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Глубинное исследование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Скилл на 4+ часа: не поверхностный поиск, а проверенный отчёт с цитатами.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402336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ЧТО ДЕЛАЕТ СКИЛЛ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fan-out: десятки запросов под разными углами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fetch источников, извлечение фактов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adversarial verify: перепроверка каждого утверждения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синтез отчёта с цитатами и уровнем уверенности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468112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КАК ПРИМЕНЯЕМ НА ЛЕКЦИИ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Лектор даёт скилл глубинного исследования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Каждый запускает его на своей идее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Профиль research → DeepSeek (дёшево на объёме)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К концу пары — черновик research.md по идее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Работа с любой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Учим протоколам, а не одной модели. Техники работают с Qwen, DeepSeek, Claude — с любым вендором.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68112" cy="4114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ФОРМУЛИРОВКА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Geist"/>
              </a:rPr>
              <a:t>Явные роли, запреты, формат — </a:t>
            </a:r>
            <a:r>
              <a:rPr sz="1150" b="0">
                <a:solidFill>
                  <a:srgbClr val="8B98A5"/>
                </a:solidFill>
                <a:latin typeface="Geist"/>
              </a:rPr>
              <a:t>hard prompt: кто ты, чего нельзя, как ответить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Structured output (JSON) — </a:t>
            </a:r>
            <a:r>
              <a:rPr sz="1150" b="0">
                <a:solidFill>
                  <a:srgbClr val="8B98A5"/>
                </a:solidFill>
                <a:latin typeface="Geist"/>
              </a:rPr>
              <a:t>парсимый ответ без regex, по схеме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Декомпозиция — </a:t>
            </a:r>
            <a:r>
              <a:rPr sz="1150" b="0">
                <a:solidFill>
                  <a:srgbClr val="8B98A5"/>
                </a:solidFill>
                <a:latin typeface="Geist"/>
              </a:rPr>
              <a:t>большую задачу — на явные шаги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Few-shot — </a:t>
            </a:r>
            <a:r>
              <a:rPr sz="1150" b="0">
                <a:solidFill>
                  <a:srgbClr val="8B98A5"/>
                </a:solidFill>
                <a:latin typeface="Geist"/>
              </a:rPr>
              <a:t>2–3 примера вход→выход задают поведение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468112" cy="4114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КОНТРОЛЬ КАЧЕСТВА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Geist"/>
              </a:rPr>
              <a:t>Цитаты и верификация — </a:t>
            </a:r>
            <a:r>
              <a:rPr sz="1150" b="0">
                <a:solidFill>
                  <a:srgbClr val="8B98A5"/>
                </a:solidFill>
                <a:latin typeface="Geist"/>
              </a:rPr>
              <a:t>требуй источник; модель — не оракул, проверяй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Итерация + eval — </a:t>
            </a:r>
            <a:r>
              <a:rPr sz="1150" b="0">
                <a:solidFill>
                  <a:srgbClr val="8B98A5"/>
                </a:solidFill>
                <a:latin typeface="Geist"/>
              </a:rPr>
              <a:t>правь промпт, меряй качество до/после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Контекст ≠ промпт — </a:t>
            </a:r>
            <a:r>
              <a:rPr sz="1150" b="0">
                <a:solidFill>
                  <a:srgbClr val="8B98A5"/>
                </a:solidFill>
                <a:latin typeface="Geist"/>
              </a:rPr>
              <a:t>стабильное — в систему, изменчивое — в конец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5B8CFF"/>
                </a:solidFill>
                <a:latin typeface="Geist"/>
              </a:rPr>
              <a:t>Границы модели — </a:t>
            </a:r>
            <a:r>
              <a:rPr sz="1150" b="0">
                <a:solidFill>
                  <a:srgbClr val="8B98A5"/>
                </a:solidFill>
                <a:latin typeface="Geist"/>
              </a:rPr>
              <a:t>не тянет — упрости задачу или смени профиль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C6975"/>
                </a:solidFill>
                <a:latin typeface="Geist"/>
              </a:rPr>
              <a:t>Фреймворк — это надстройка. Сначала понимаешь, что внутри, потом решаешь, нужен ли он.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  <a:latin typeface="Geist"/>
              </a:rPr>
              <a:t>Домашнее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2529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К Лекции 2 стартуем с обсуждения ваших идей.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11430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B8CFF"/>
                </a:solidFill>
                <a:latin typeface="JetBrains Mono"/>
              </a:rPr>
              <a:t>5 проработанных идей в формате 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применив скилл глубинного исследования (минимум 4 часа работы)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40680" cy="2697480"/>
          </a:xfrm>
          <a:prstGeom prst="roundRect">
            <a:avLst/>
          </a:prstGeom>
          <a:solidFill>
            <a:srgbClr val="1218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В КАЖДОЙ ИДЕЕ (ПО IDEA-SCORER)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боль + ICP + JTBD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есть ли данные (датасет, лицензия)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выполнимость за 15 недель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черновик экономики: cost на пользователя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46120"/>
            <a:ext cx="5468112" cy="26974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КАК СДАТЬ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папка ideas/ в своём репозитории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один .md на идею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PR к следующей паре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на Лекции 2 прогоним через idea-selector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2026-08-29T09:52:05Z</dcterms:created>
  <dcterms:modified xsi:type="dcterms:W3CDTF">2026-08-29T09:52:05Z</dcterms:modified>
</cp:coreProperties>
</file>