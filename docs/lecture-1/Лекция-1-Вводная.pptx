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74" r:id="rId20"/>
    <p:sldId id="283" r:id="rId34"/>
    <p:sldId id="284" r:id="rId35"/>
    <p:sldId id="285" r:id="rId36"/>
    <p:sldId id="286" r:id="rId37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G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200" kern="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</a:t>
            </a:r>
            <a:endParaRPr lang="en-US" sz="4600" dirty="0"/>
          </a:p>
        </p:txBody>
      </p:sp>
      <p:sp>
        <p:nvSpPr>
          <p:cNvPr id="3" name="Shape 1"/>
          <p:cNvSpPr/>
          <p:nvPr/>
        </p:nvSpPr>
        <p:spPr>
          <a:xfrm>
            <a:off x="868680" y="269748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68680" y="26974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ЛЕКЦИЯ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2697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Вводная: о чём этот курс и как мы будем работать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в одиночку довести AI-продукт от идеи до работающего решения —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 почему это самый востребованный инженерный навык 2026 года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0350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Передовая инженерная школа · дисциплина «Проектная деятельность» · домен ВСМ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 чём поговорим сегодня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41732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1732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Кто такой Product Engineer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41732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 почему это не «ещё один разработчик»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212848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221284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21284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вы построите за семестр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2212848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свой продукт от идеи до реальных пользователей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008376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300837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0083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устроена работа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008376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4 контура, сквозной проект, контрольные точки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03904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31520" y="380390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80390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Чем будем пользоваться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803904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CLI-агенты, RouteAI, MCP — рабочий стек, не игрушки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99432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599432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59943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Методология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4599432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чём стоим: индустриальные стандарты, не самодеятельность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0" y="53949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39496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делаем сегодня вечером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0" y="539496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собираем обвязку: репозиторий, скиллы, первые агенты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За последний год разработка изменилась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разработчиков используют AI-инструменты ежедневно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649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DORA 2025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70832" y="1463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645152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~41%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45152" y="25603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нового кода в индустрии генерируется с помощью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45152" y="33649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Octoverse 2025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193024" y="1463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467344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 часа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467344" y="25603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медианное время работы инженера с AI-агентами в день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67344" y="33649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industry 2025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11091672" cy="1965960"/>
          </a:xfrm>
          <a:prstGeom prst="roundRect">
            <a:avLst>
              <a:gd name="adj" fmla="val 4651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Но вот в чём соль: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6177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пишет код быстрее человека. Но решает,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строить, для кого, надёжно ли это и сколько стоит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 — по-прежнему человек. Именно эти навыки — архитектура, продуктовое мышление, контроль качества и стоимости — становятся главными. Кодинг превращается из узкого места в обычную операцию.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Кто такой Product Engineer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Один человек, который ведёт продукт от идеи до релиза:</a:t>
            </a:r>
            <a:endParaRPr lang="en-US" sz="20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придумывает · проверяет · проектирует · кодит · мерит · чинит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Это не...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full-stack «дайте мне готовое ТЗ»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PM «давайте обсудим стратегию»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ML-инженер, который обучает модели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3017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...а инженер с продуктовой ответственностью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34290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понимает, ЗАЧЕМ и КОМУ нужен продукт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использует AI как основной инструмент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отвечает за результат у реального пользователя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2960" y="5074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i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«Производительность 10× достигается тогда, когда человек перестаёт мешать агентам»</a:t>
            </a:r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  — Шевченко, Соколенко М.В. · РУТ (МИИТ)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Эта роль уже есть на рынке — и хорошо оплачивается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 мире её называют Forward-Deployed Engineer (FDE). Не консультант с презентацией, а инженер, который строит работающую систему прямо у заказчика и отвечает за неё.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249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Forward-Deployed Engineer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EDC8C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$200–300K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PhD не требуется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4884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45152" y="23317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27249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Applied AI Engineer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3291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EDC8C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$280–300K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38862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context engineering, evals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93024" y="214884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467344" y="23317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27249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Forward-Deployed Engineer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3291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EDC8C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~$265K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8467344" y="38862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полный стек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457200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важно: 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собеседовании 2026 спрашивают не «знаешь ли PyTorch», а «как ты мерил качество и как дебажил галлюцинации». К концу курса у вас будет ответ — не в теории, а с цифрами из своего проекта. </a:t>
            </a:r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Портфолио реального проекта бьёт диплом.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Главный сдвиг: от AI-assisted к AI-native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3657600"/>
          </a:xfrm>
          <a:prstGeom prst="roundRect">
            <a:avLst>
              <a:gd name="adj" fmla="val 25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AI-ASSISTED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«инструмент есть, мышление прежнее»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Есть задача — открываю чат в браузере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Копирую код туда, описываю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Копирую ответ обратно, правлю руками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= справочник, к которому иногда хожу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806440" y="301752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30952" cy="3657600"/>
          </a:xfrm>
          <a:prstGeom prst="roundRect">
            <a:avLst>
              <a:gd name="adj" fmla="val 2500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3796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AI-NATIVE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«AI живёт прямо в моём коде»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51460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Агент читает мой проект целиком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Описываю, что хочу — агент пишет и правит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Я ревьюю и направляю, а не печатаю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Первый вопрос всегда: «как это с AI?»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Этот курс — про правый столбец. Мы меняем не инструмент, а привычку по умолчанию.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вы построите за семестр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Один сквозной проект на все 15 недель.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Вы работаете над одной идеей от первого дня до защиты. К финалу — не учебное задание, а работающий продукт с реальными пользователями.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РУКАХ В КОНЦЕ КУРСА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333756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34564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33649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Работающий продукт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8587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 3–5 реальными пользователями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70832" y="310896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599432" y="333756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345643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93792" y="33649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Design doc + ADR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38587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проектная документация уровня индустрии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93024" y="310896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21624" y="333756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96" y="345643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15984" y="33649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Тесты и evals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8421624" y="38587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доказательство, что оно работает, а не «на демо ок»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461772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777240" y="484632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965192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71600" y="48737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Cost-модель</a:t>
            </a:r>
            <a:endParaRPr lang="en-US" sz="1350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53675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сколько стоит один пользователь в месяц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370832" y="461772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4599432" y="484632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965192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193792" y="48737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Бизнес-модель</a:t>
            </a:r>
            <a:endParaRPr lang="en-US" sz="135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3675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одной странице: кто платит и сколько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8193024" y="461772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421624" y="484632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0496" y="4965192"/>
            <a:ext cx="219456" cy="21945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15984" y="48737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Публичный репозиторий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8421624" y="53675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 полной историей — ваш главный аргумент на найме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37" name="Text 29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устроена работа: 4 контура одновременно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 последовательно «сначала продукт, потом код», а параллельно через все 15 недель. Настоящий продукт растёт по всем осям сразу.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679192" cy="356616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613916" y="233172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6562" y="247436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01752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Продуктовый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747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Зачем и для кого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2313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ICP, JTBD, ценность, обратная связь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55848" y="2057400"/>
            <a:ext cx="2679192" cy="356616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421124" y="233172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770" y="247436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93008" y="301752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Исследовательский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493008" y="34747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Работает ли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538728" y="3977640"/>
            <a:ext cx="2313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гипотезы, evals, метрики качества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63056" y="2057400"/>
            <a:ext cx="2679192" cy="356616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7228332" y="233172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978" y="247436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0216" y="301752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Инженерный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00216" y="34747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Надёжно ли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345936" y="3977640"/>
            <a:ext cx="2313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design doc, ADR, тесты, границы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970264" y="2057400"/>
            <a:ext cx="2679192" cy="356616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10035540" y="233172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8186" y="247436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07424" y="301752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Бизнес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07424" y="34747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Окупается ли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9153144" y="3977640"/>
            <a:ext cx="2313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cost-модель, unit-экономика, цена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Карта курса: 5 блоков за 15 недель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63040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1–3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463040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Discovery + ICP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46304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Найти реальную проблему и выбрать архитектуру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12680" y="1682496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012680" y="16824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КТ1 — защита идеи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432304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2432304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32304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4–6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432304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Проектирование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432304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Design doc, ADR, cost-модель до кода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12680" y="2651760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01268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КТ2 — дизайн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401568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340156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401568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7–10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401568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Разработка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340156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Собрать MVP: TDD, границы, MCP, RAG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12680" y="3621024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12680" y="36210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КТ3 — MVP + метрики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370832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20" y="4370832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370832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11–13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370832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Оценка + экономика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4370832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Evals, unit-экономика, реальные пользователи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12680" y="4590288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0012680" y="4590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КТ4 — цифры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0" y="5340096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2103120" y="5340096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14–15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5340096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Питч + защита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309360" y="5340096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Питч-дек по стандарту Y Combinator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012680" y="555955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012680" y="5559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Финал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Контрольные точки: не экзамен, а веха проекта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Каждая КТ — это защита реального состояния вашего продукта перед комиссией. Готовитесь не к «сдать зачёт», а к «показать, что продукт живёт».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240280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неделя 3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205740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Защита идеи: ICP, JTBD, выбор архитектуры, живое интервью с экспертом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99232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82112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77240" y="3182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99923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неделя 6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299923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Дизайн: design doc + ADR с cost-анализом, анатомия агента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" y="4123944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77240" y="4123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94106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неделя 10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941064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Работающий MVP с метриками и cost-проекцией на демо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82896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77240" y="5065776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77240" y="5065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82896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неделя 13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882896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Реальные пользователи: подтверждённые и опровергнутые гипотезы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чём стоим: три индустриальные базы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Мы не изобретаем методологию на ходу. Курс опирается на проверенные в индустрии стандарты — их можно цитировать в резюме и на собеседовании.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632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ML System Design Doc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7588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Reliable ML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069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проектировать ML-систему как продукт. Применяется в магистратуре ИТМО.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70832" y="210312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45152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25200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0632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Agent Design Methodology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367588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welltraum, MIT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645152" y="4069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проектировать агентов: requirements, architecture, evaluation, release.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93024" y="210312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67344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990" y="252008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67344" y="30632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SDD + TDD + ADR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467344" y="367588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Соколенко М.В. · РУТ (МИИТ)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467344" y="4069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Инженерная дисциплина: спецификация → тесты → документирование решений.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Принцип №7: учим протоколам, а не фреймворкам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MCP, OpenAI-совместимый API, structured output, ADR — это стандарты, которые живут годами.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LangChain, LlamaIndex, OpenClaw — полезны, но меняются каждые 6 месяцев.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Почему так: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11064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700"/>
              </a:lnSpc>
              <a:spcAft>
                <a:spcPts val="1300"/>
              </a:spcAft>
              <a:buSzPct val="100000"/>
              <a:buChar char="▪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Вы поймёте, что под капотом ЛЮБОГО фреймворка — и выберете его осознанно, а не по хайпу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300"/>
              </a:spcAft>
              <a:buSzPct val="100000"/>
              <a:buChar char="▪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Никакого «agent.run() и молюсь, чтобы сработало» без понимания происходящего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300"/>
              </a:spcAft>
              <a:buSzPct val="100000"/>
              <a:buChar char="▪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Фреймворки проходим обзорно (неделя 9). Хотите использовать в проекте — пишете ADR с обоснованием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300"/>
              </a:spcAft>
              <a:buSzPct val="100000"/>
              <a:buChar char="▪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После курса освоите любой новый фреймворк за час, потому что знаете принципы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CLI-агенты: наша экосистема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 чат в браузере, а агент, который живёт в терминале и работает прямо в вашем репозитории: читает файлы, пишет код, запускает тесты, делает коммиты. Все они говорят на одном протоколе — освоив один, пересядете на любой за день.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679192" cy="278892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636776" y="242316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535" y="255391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0632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29000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79476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эталонный UX, сильнее всего в архитектуре и рефакторинге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55848" y="2194560"/>
            <a:ext cx="2679192" cy="278892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443984" y="242316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43" y="255391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93008" y="30632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93008" y="3429000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IDE + агент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3538728" y="379476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привычная IDE с AI-панелью — мягкий вход для новичков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63056" y="2194560"/>
            <a:ext cx="2679192" cy="278892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7251192" y="242316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951" y="255391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0216" y="30632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Kimi CLI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300216" y="3429000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Moonshot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6345936" y="379476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open-source, работает с дешёвыми моделями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970264" y="2194560"/>
            <a:ext cx="2679192" cy="278892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10058400" y="242316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9159" y="255391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07424" y="30632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DeepSeek agents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107424" y="3429000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DeepSeek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9153144" y="379476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сильный reasoning, экономичный на длинных задачах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Старт курса — свой CLI ape (ставится за минуту). Эти агенты подключим к тому же MCP-шлюзу позже.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устроен доступ к моделям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Вы не получаете ключи от LLM напрямую. Всё идёт через курсовой сервер — так мы контролируем расходы, ведём учёт и даём одинаковый доступ всем.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148840" y="25146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486" y="26572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Ваш CLI-агент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584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локально у вас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9260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4434840" y="228600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669280" y="25146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6" y="265724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Курсовой MCP-сервер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584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скиллы, cost-журнал, JWT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29260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7955280" y="228600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9189720" y="25146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2366" y="265724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09244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RouteAI / локальный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092440" y="3584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Qwen, DeepSeek, Claude, Kimi (каскад RouteAI)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914400" y="44805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6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Ключей на руках нет — курсовой бюджет не слить</a:t>
            </a:r>
            <a:endParaRPr lang="en-US" sz="1300" dirty="0"/>
          </a:p>
          <a:p>
            <a:pPr marL="127000" indent="-127000">
              <a:lnSpc>
                <a:spcPts val="16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Каждый ваш запрос виден в cost-журнале</a:t>
            </a:r>
            <a:endParaRPr lang="en-US" sz="1300" dirty="0"/>
          </a:p>
          <a:p>
            <a:pPr marL="127000" indent="-127000">
              <a:lnSpc>
                <a:spcPts val="16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Модель упала — каскад сам переключит на следующую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Деньги считаем с первой недели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AI-продукт — это не SaaS.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Каждый запрос к модели стоит денег. Продукт, который «работает», но убыточен на каждом пользователе — это не продукт. Поэтому cost — не тема последней недели, а привычка с первого дня.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306324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193999"/>
            <a:ext cx="241402" cy="2414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703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Каждый вызов — в журнал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Автоматически, с привязкой к вам. В личном кабинете видите свои расходы в рублях.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70832" y="283464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45152" y="306324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911" y="319399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703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Cost-of-AI ADR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43434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Уже на неделе 5 считаете: сколько стоит один пользователь и что будет при росте ×100.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93024" y="283464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67344" y="306324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03" y="319399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67344" y="3703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Защищаете на цифрах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467344" y="43434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КТ3 показываете cost/запрос и проекцию нагрузки. «Дорого» — это провал, который видно заранее.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Где живёт курс: домен ВСМ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Курс — инженерное ядро дисциплины «Проектная деятельность». Ваши проекты — в домене высокоскоростных магистралей, а рядом, в соседней группе, — магистры-железнодорожники.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3957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Домен даёт реальные задачи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RAG по нормативной документации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Экспертные системы для путевых рабочих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Анализ телеметрии инфраструктуры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Контроль строительства по данным БПЛА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Персонализация пассажирского опыта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Диспетчерские copilot'ы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5352" y="214884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19672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318" y="25200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05472" y="23957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Эксперты — в соседней аудитории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19672" y="320040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Магистры направления «Управление инфраструктурой ВСМ» — опытные железнодорожники. Это ваши реальные пользователи и источник доменной экспертизы.
</a:t>
            </a:r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неделе 3 вы обкатаете вопросы на LLM-симуляции, а потом пойдёте на живое интервью к реальному эксперту. Симуляция — тренажёр, не замена.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нужно от вас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7144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874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15 часов в неделю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Это не «слушать лекции», а разрабатывать продукт. Курс делается руками.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5544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492240" y="18288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6" y="197144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874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Готовность к публичности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Ваш продукт увидят реальные люди. Это страшно и полезно.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74904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822960" y="402336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16600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40690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Английский на чтение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709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Документация моделей, MCP, инструментов — на английском.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17920" y="374904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6492240" y="402336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4886" y="416600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40690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База программирования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92240" y="4709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Python или TypeScript на уровне «могу сделать REST-сервис».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делаем сегодня вечером: собираем обвязку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Теория закончилась. Дальше — руки. К концу вечера у каждого работает окружение и первый агент.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167128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2167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96596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Git-репозиторий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965960"/>
            <a:ext cx="6949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Создаём ai-pe-{фамилия} со структурой курса: /design /adr /src /evals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935224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36392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772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93522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Ставим CLI-агент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935224"/>
            <a:ext cx="6949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Свой CLI курса: pip install engineer-ai-cli → ape login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04488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" y="4105656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77240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04488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Подключаем к серверу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904488"/>
            <a:ext cx="6949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ape code «…» — первый вызов, проверяем cost-журнал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73752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77240" y="5074920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7724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87375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Пишем первые скиллы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873752"/>
            <a:ext cx="6949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Разбираем, как устроен скилл, и собираем пару своих под проект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 теперь — демо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Прямо сейчас, без слайдов, соберу работающий MVP за 45 минут.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Вы увидите скорость своими глазами — а вечером повторите сами.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4389120"/>
            <a:ext cx="6583680" cy="640080"/>
          </a:xfrm>
          <a:prstGeom prst="roundRect">
            <a:avLst>
              <a:gd name="adj" fmla="val 14286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43891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Вопрос первого дня: «а как это можно сделать с AI?»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Добро пожаловать в AI Product Engineer.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Как подключиться к проекту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Один вход через шлюз. Прямого ключа к моделям у тебя нет — и не нужно.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766560" cy="411480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СТАРТ ЗА 2 КОМАНДЫ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B8CFF"/>
                </a:solidFill>
                <a:latin typeface="JetBrains Mono"/>
              </a:rPr>
              <a:t>1  </a:t>
            </a:r>
            <a:r>
              <a:rPr sz="1250" b="0">
                <a:solidFill>
                  <a:srgbClr val="E6EDF3"/>
                </a:solidFill>
                <a:latin typeface="Geist"/>
              </a:rPr>
              <a:t>Установи CLI курса:  pip install engineer-ai-cli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2  </a:t>
            </a:r>
            <a:r>
              <a:rPr sz="1250" b="0">
                <a:solidFill>
                  <a:srgbClr val="E6EDF3"/>
                </a:solidFill>
                <a:latin typeface="Geist"/>
              </a:rPr>
              <a:t>ape login — вход через GitHub, токен сам сохранится
    и будет обновляться (ничего копировать не надо).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3  </a:t>
            </a:r>
            <a:r>
              <a:rPr sz="1250" b="0">
                <a:solidFill>
                  <a:srgbClr val="E6EDF3"/>
                </a:solidFill>
                <a:latin typeface="Geist"/>
              </a:rPr>
              <a:t>ape code "…" — первый код через шлюз.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4  </a:t>
            </a:r>
            <a:r>
              <a:rPr sz="1250" b="0">
                <a:solidFill>
                  <a:srgbClr val="E6EDF3"/>
                </a:solidFill>
                <a:latin typeface="Geist"/>
              </a:rPr>
              <a:t>Стартовые скиллы — в репозитории курса (skills/).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5  </a:t>
            </a:r>
            <a:r>
              <a:rPr sz="1250" b="0">
                <a:solidFill>
                  <a:srgbClr val="E6EDF3"/>
                </a:solidFill>
                <a:latin typeface="Geist"/>
              </a:rPr>
              <a:t>Все вызовы метрятся в cost-журнал.
    Лимит один: 25M токенов в неделю.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011680"/>
            <a:ext cx="3977639" cy="4114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B0F14"/>
                </a:solidFill>
                <a:latin typeface="JetBrains Mono"/>
              </a:rPr>
              <a:t>РЕПОЗИТОРИЙ КУРСА</a:t>
            </a:r>
          </a:p>
        </p:txBody>
      </p:sp>
      <p:pic>
        <p:nvPicPr>
          <p:cNvPr id="12" name="Picture 11" descr="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697480"/>
            <a:ext cx="2514600" cy="2514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26679" y="5349240"/>
            <a:ext cx="3794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0B0F14"/>
                </a:solidFill>
                <a:latin typeface="JetBrains Mono"/>
              </a:rPr>
              <a:t>github.com/mkhlsokolenko-ai/
ai-product-engineer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Лимиты токенов и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Cost с первой недели. Каждый вызов виден в Postgres, у тебя есть личный кабинет.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1091672" cy="128016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5B8CFF"/>
                </a:solidFill>
                <a:latin typeface="JetBrains Mono"/>
              </a:rPr>
              <a:t>25M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194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EDF3"/>
                </a:solidFill>
                <a:latin typeface="Geist"/>
              </a:rPr>
              <a:t>токенов в неделю — единственный лимит на студента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743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Сессий и подключений не ограничиваем: логинься и переподключайся сколько нужно.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МАРШРУТИЗАЦИЯ ПО ТИПУ ЗАДАЧИ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091672" cy="5486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873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ape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08736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JetBrains Mono"/>
              </a:rPr>
              <a:t>Qwen3.8-27B · self-host RTX PRO 5000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0873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кодинг, pet-проект (бесплатно из квоты)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91672" cy="5486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2744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ape 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72744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JetBrains Mono"/>
              </a:rPr>
              <a:t>только DeepSeek · V4-Pro/Flash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7274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discovery, спеки, eval-судья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57800"/>
            <a:ext cx="11091672" cy="5486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675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standard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36752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JetBrains Mono"/>
              </a:rPr>
              <a:t>RouteAI-каскад · Qwen/DeepSeek/Kimi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3675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разнообразие и fallback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97880"/>
            <a:ext cx="11091672" cy="5486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00760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lecturer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600760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JetBrains Mono"/>
              </a:rPr>
              <a:t>Claude · Opus/Sonnet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600760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эталон, ревью — не на студентах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C6975"/>
                </a:solidFill>
                <a:latin typeface="Geist"/>
              </a:rPr>
              <a:t>Упёрся в 25M → chat вернёт quota_exceeded: лимит сбросится в понедельник. ape usage — сколько осталось.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Хранилище проектов: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S3-совместимое (MinIO на server-1). У каждого свой префикс, изоляция.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977639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B8CFF"/>
                </a:solidFill>
                <a:latin typeface="JetBrains Mono"/>
              </a:rPr>
              <a:t>ЧТО ХРАНИМ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8892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Документы для RAG (PDF, DOCX, MD)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Открытые / синтетические датасеты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Артефакты проекта, конфиги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Eval-датасеты и результаты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011680"/>
            <a:ext cx="3566160" cy="3977639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B8CFF"/>
                </a:solidFill>
                <a:latin typeface="JetBrains Mono"/>
              </a:rPr>
              <a:t>КАК УСТРОЕНО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Бакет projects/&lt;студент&gt;/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Presigned URL через портал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Документ → OCR → embed → Qdrant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Лимит 600 МБ на студента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011680"/>
            <a:ext cx="3566160" cy="3977639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4D4F"/>
                </a:solidFill>
                <a:latin typeface="JetBrains Mono"/>
              </a:rPr>
              <a:t>НЕЛЬЗЯ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78892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4D4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Секреты, API-ключи, токены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F4D4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Персональные данные (ФЗ-152)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F4D4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Прод-данные партнёров — синтетика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F4D4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Веса больших моделей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975"/>
                </a:solidFill>
                <a:latin typeface="Geist"/>
              </a:rPr>
              <a:t>600 МБ на простой продукт хватает. Загрузка и бэкап — через портал engineer-ai.pro; том снапшотится.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Вход через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Никаких паролей и токенов вручную. Один аккаунт GitHub — и портал, и CLI.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766560" cy="411480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КАК ВОЙТИ (2 ПУТИ)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6309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B8CFF"/>
                </a:solidFill>
                <a:latin typeface="JetBrains Mono"/>
              </a:rPr>
              <a:t>A  </a:t>
            </a:r>
            <a:r>
              <a:rPr sz="1200" b="0">
                <a:solidFill>
                  <a:srgbClr val="E6EDF3"/>
                </a:solidFill>
                <a:latin typeface="Geist"/>
              </a:rPr>
              <a:t>Портал: открой engineer-ai.pro →
    «Продолжить с GitHub».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B  </a:t>
            </a:r>
            <a:r>
              <a:rPr sz="1200" b="0">
                <a:solidFill>
                  <a:srgbClr val="E6EDF3"/>
                </a:solidFill>
                <a:latin typeface="Geist"/>
              </a:rPr>
              <a:t>CLI: набери  ape login  → откроется браузер.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1  </a:t>
            </a:r>
            <a:r>
              <a:rPr sz="1200" b="0">
                <a:solidFill>
                  <a:srgbClr val="E6EDF3"/>
                </a:solidFill>
                <a:latin typeface="Geist"/>
              </a:rPr>
              <a:t>Нажми «Continue with GitHub» и подтверди доступ
    (в первый раз GitHub спросит разрешение).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2  </a:t>
            </a:r>
            <a:r>
              <a:rPr sz="1200" b="0">
                <a:solidFill>
                  <a:srgbClr val="E6EDF3"/>
                </a:solidFill>
                <a:latin typeface="Geist"/>
              </a:rPr>
              <a:t>Готово: вернёшься в портал / терминал уже внутри.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3  </a:t>
            </a:r>
            <a:r>
              <a:rPr sz="1200" b="0">
                <a:solidFill>
                  <a:srgbClr val="E6EDF3"/>
                </a:solidFill>
                <a:latin typeface="Geist"/>
              </a:rPr>
              <a:t>Токен сохраняется и обновляется сам —
    копировать ничего не нужно.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011680"/>
            <a:ext cx="3977639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ЧТО ДАЛЬШЕ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834640"/>
            <a:ext cx="3520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Роль student выдаётся автоматически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Один вход — доступ к моделям, RAG и квоте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В CLI: ape code / ape ask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401 «сессия истекла» → просто ape login заново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Настройка входа · для лектора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Разовая настройка GitHub-входа. Студентам этот слайд не нужен.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ДЕЛАЕТСЯ ОДИН РАЗ ПРИ РАЗВЁРТЫВАНИИ КУРСА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486400" cy="3749039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1. GITHUB OAUTH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Settings → Developer settings → OAuth Apps → New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Homepage: https://engineer-ai.pro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Authorization callback URL — см. ниже (1-в-1!)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Register → Client ID + Generate client secret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5B8CFF"/>
                </a:solidFill>
                <a:latin typeface="JetBrains Mono"/>
              </a:rPr>
              <a:t>https://auth.engineer-ai.pro/realms/
ai-product-engineer/broker/github/endpoint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2194560"/>
            <a:ext cx="5486400" cy="3749039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423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2. KEYCLOAK · IDENTITY PROVIDER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97180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auth.engineer-ai.pro/admin → realm ai-product-engineer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Identity providers → Add → GitHub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Вставь Client ID и Client Secret → Save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Роль student — default, выдаётся сама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Проверка: Account → Sign in → GitHub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CLI курса: 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Своя обёртка над шлюзом. Ставится за минуту, вход через GitHub, токен обновляется сам.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766560" cy="411480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УСТАНОВКА И СТАРТ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5B8CFF"/>
                </a:solidFill>
                <a:latin typeface="JetBrains Mono"/>
              </a:rPr>
              <a:t>1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pip install engineer-ai-cli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5B8CFF"/>
                </a:solidFill>
                <a:latin typeface="JetBrains Mono"/>
              </a:rPr>
              <a:t>   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(или скачать один файл ape.py — зависимостей нет)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5B8CFF"/>
                </a:solidFill>
                <a:latin typeface="JetBrains Mono"/>
              </a:rPr>
              <a:t>2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ape login   → браузер, вход через GitHub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5B8CFF"/>
                </a:solidFill>
                <a:latin typeface="JetBrains Mono"/>
              </a:rPr>
              <a:t>3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ape code "напиши FastAPI /health с тестом"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5B8CFF"/>
                </a:solidFill>
                <a:latin typeface="JetBrains Mono"/>
              </a:rPr>
              <a:t>4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ape usage   → сколько токенов осталось за неделю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011680"/>
            <a:ext cx="3977639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ЧЕМ УДОБНО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788920"/>
            <a:ext cx="35204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Один вход — GitHub, без ручного токена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Авто-refresh: не ловишь 401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Явный роутинг: code vs ask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Та же квота и RAG, что у портала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Чистый Python, ставится везде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ape: команды и когда что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Правило простое: пишешь код — code, думаешь/исследуешь — ask.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86400" cy="278892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94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APE CODE  →  QWEN3.8-27B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432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Генерация и правки кода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Быстро; из квоты — бесплатно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«Мышление вслух» выключено → чистый код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Self-host бокс курса (RTX PRO 5000)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965960"/>
            <a:ext cx="5486400" cy="278892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194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APE ASK  →  DEEPSEEK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7432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Ресёрч, объяснения, сравнение подходов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Сильнее в рассуждениях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Discovery, спеки, разбор вариантов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Профиль research (дёшево на объёме)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11091672" cy="12344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1663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ЕЩЁ КОМАНДЫ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6235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E6EDF3"/>
                </a:solidFill>
                <a:latin typeface="JetBrains Mono"/>
              </a:rPr>
              <a:t>ape rag index ./docs   ·   ape rag search "…"   ·   ape usage   ·   ape whoami   ·   ape session new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Продвинутый режим: агенты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Когда перерастёшь ape — тем же аккаунтом подключай полноценного агента к MCP-шлюзу.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440680" cy="402336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APE (СТАРТ, НЕДЕЛИ 1–3)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Одна команда — один ответ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Понимаешь, что уходит в модель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Явный контроль code / ask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Идеально для первых недель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5468112" cy="402336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АГЕНТ (БЛОК ПРО АГЕНТОВ)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Агент (Claude Code / Cursor / …) как MCP-клиент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Endpoint: mcp.engineer-ai.pro/mcp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Инструменты: chat, rag_index / rag_search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spec → tests (TDD) → код → git, tool-calling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C6975"/>
                </a:solidFill>
                <a:latin typeface="Geist"/>
              </a:rPr>
              <a:t>Один токен работает и в ape, и в агенте. Начни с ape — никакого чёрного ящика, потом усложняй.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Исследование и отбор идей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От сырой идеи к защищаемой — через скиллы (папки в skills/, работают через ape ask).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DISCOVERY-КОНВЕЙЕР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3230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researcher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43230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собрать контекст: рынок, данные, аналоги, регуляторика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40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095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icp-interviewer + jtbd-formulator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0954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кто платящий пользователь и какую работу нанимает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idea-scorer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8678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оценить идею по рубрике 0–40 (боль, данные, экономика…)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17720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640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idea-selector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6402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сравнить N идей и выбрать одну обоснованно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59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4126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devils-advocate + grill-me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54126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прожать выбранную на прочность, найти где убьёт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C6975"/>
                </a:solidFill>
                <a:latin typeface="Geist"/>
              </a:rPr>
              <a:t>Каждый скилл критикует и уточняет, а не хвалит. Итог discovery — выбранная идея + её риски.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Глубинное исследование идеи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Скилл на 4+ часа: не поверхностный поиск, а проверенный отчёт с цитатами.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440680" cy="402336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ЧТО ДЕЛАЕТ СКИЛЛ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fan-out: десятки запросов под разными углами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fetch источников, извлечение фактов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adversarial verify: перепроверка каждого утверждения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синтез отчёта с цитатами и уровнем уверенности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5468112" cy="402336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КАК ПРИМЕНЯЕМ НА ЛЕКЦИИ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Лектор даёт скилл глубинного исследования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Каждый запускает его на своей идее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Профиль research → DeepSeek (дёшево на объёме)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К концу пары — черновик research.md по идее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Работа с любой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Учим протоколам, а не одной модели. Техники работают с Qwen, DeepSeek, Claude — с любым вендором.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68112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94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ФОРМУЛИРОВКА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432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Geist"/>
              </a:rPr>
              <a:t>Явные роли, запреты, формат — </a:t>
            </a:r>
            <a:r>
              <a:rPr sz="1150" b="0">
                <a:solidFill>
                  <a:srgbClr val="8B98A5"/>
                </a:solidFill>
                <a:latin typeface="Geist"/>
              </a:rPr>
              <a:t>hard prompt: кто ты, чего нельзя, как ответить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Structured output (JSON) — </a:t>
            </a:r>
            <a:r>
              <a:rPr sz="1150" b="0">
                <a:solidFill>
                  <a:srgbClr val="8B98A5"/>
                </a:solidFill>
                <a:latin typeface="Geist"/>
              </a:rPr>
              <a:t>парсимый ответ без regex, по схеме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Декомпозиция — </a:t>
            </a:r>
            <a:r>
              <a:rPr sz="1150" b="0">
                <a:solidFill>
                  <a:srgbClr val="8B98A5"/>
                </a:solidFill>
                <a:latin typeface="Geist"/>
              </a:rPr>
              <a:t>большую задачу — на явные шаги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Few-shot — </a:t>
            </a:r>
            <a:r>
              <a:rPr sz="1150" b="0">
                <a:solidFill>
                  <a:srgbClr val="8B98A5"/>
                </a:solidFill>
                <a:latin typeface="Geist"/>
              </a:rPr>
              <a:t>2–3 примера вход→выход задают поведение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65960"/>
            <a:ext cx="5468112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2194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КОНТРОЛЬ КАЧЕСТВА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7432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Geist"/>
              </a:rPr>
              <a:t>Цитаты и верификация — </a:t>
            </a:r>
            <a:r>
              <a:rPr sz="1150" b="0">
                <a:solidFill>
                  <a:srgbClr val="8B98A5"/>
                </a:solidFill>
                <a:latin typeface="Geist"/>
              </a:rPr>
              <a:t>требуй источник; модель — не оракул, проверяй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Итерация + eval — </a:t>
            </a:r>
            <a:r>
              <a:rPr sz="1150" b="0">
                <a:solidFill>
                  <a:srgbClr val="8B98A5"/>
                </a:solidFill>
                <a:latin typeface="Geist"/>
              </a:rPr>
              <a:t>правь промпт, меряй качество до/после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Контекст ≠ промпт — </a:t>
            </a:r>
            <a:r>
              <a:rPr sz="1150" b="0">
                <a:solidFill>
                  <a:srgbClr val="8B98A5"/>
                </a:solidFill>
                <a:latin typeface="Geist"/>
              </a:rPr>
              <a:t>стабильное — в систему, изменчивое — в конец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Границы модели — </a:t>
            </a:r>
            <a:r>
              <a:rPr sz="1150" b="0">
                <a:solidFill>
                  <a:srgbClr val="8B98A5"/>
                </a:solidFill>
                <a:latin typeface="Geist"/>
              </a:rPr>
              <a:t>не тянет — упрости задачу или смени профиль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C6975"/>
                </a:solidFill>
                <a:latin typeface="Geist"/>
              </a:rPr>
              <a:t>Фреймворк — это надстройка. Сначала понимаешь, что внутри, потом решаешь, нужен ли он.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Домашнее задание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К Лекции 2 стартуем с обсуждения ваших идей.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1091672" cy="11430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5B8CFF"/>
                </a:solidFill>
                <a:latin typeface="JetBrains Mono"/>
              </a:rPr>
              <a:t>5 проработанных идей в формате 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8A5"/>
                </a:solidFill>
                <a:latin typeface="Geist"/>
              </a:rPr>
              <a:t>применив скилл глубинного исследования (минимум 4 часа работы)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440680" cy="269748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В КАЖДОЙ ИДЕЕ (ПО IDEA-SCORER)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боль + ICP + JTBD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есть ли данные (датасет, лицензия)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выполнимость за 15 недель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черновик экономики: cost на пользователя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5468112" cy="269748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474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КАК СДАТЬ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папка ideas/ в своём репозитории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один .md на идею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PR к следующей паре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на Лекции 2 прогоним через idea-selector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2026-08-29T09:52:05Z</dcterms:created>
  <dcterms:modified xsi:type="dcterms:W3CDTF">2026-08-29T09:52:05Z</dcterms:modified>
</cp:coreProperties>
</file>