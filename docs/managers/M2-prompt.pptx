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88920"/>
            <a:ext cx="109728" cy="155448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JetBrains Mono"/>
              </a:rPr>
              <a:t>AI ДЛЯ МЕНЕДЖЕРОВ · ОБЗОРНЫЙ КУРС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  <a:latin typeface="Geist"/>
              </a:rPr>
              <a:t>Модуль 2. Как разговаривать с 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43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8A5"/>
                </a:solidFill>
                <a:latin typeface="Geist"/>
              </a:rPr>
              <a:t>Промпт — это ваше задание. Качество ответа на 80% зависит от качества задания.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126480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975"/>
                </a:solidFill>
                <a:latin typeface="JetBrains Mono"/>
              </a:rPr>
              <a:t>M2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Формула промпта: РЗФО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A5"/>
                </a:solidFill>
                <a:latin typeface="Geist"/>
              </a:rPr>
              <a:t>Четыре части, без которых ответ будет «водой».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3113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Роль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7860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кем должен
быть 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8658" y="251917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5858" y="210312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3018" y="223113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Задача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018" y="257860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что сделать,
конкретно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5876" y="251917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3076" y="210312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0236" y="223113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Формат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0236" y="257860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как оформить
ответ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3094" y="2519171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C6975"/>
                </a:solidFill>
                <a:latin typeface="Geis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0294" y="2103120"/>
            <a:ext cx="2430018" cy="123444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454" y="2231136"/>
            <a:ext cx="21556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B8CFF"/>
                </a:solidFill>
                <a:latin typeface="Geist"/>
              </a:rPr>
              <a:t>Ограничения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7454" y="2578608"/>
            <a:ext cx="215569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8B98A5"/>
                </a:solidFill>
                <a:latin typeface="Geist"/>
              </a:rPr>
              <a:t>что учесть,
чего нельзя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49039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Geist"/>
              </a:rPr>
              <a:t>«Ты маркетолог. Составь план запуска на неделю для B2B-SaaS, 5 пунктов, каждый с метрикой успеха, без общих слов.»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Хороший промпт и плохой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FB950"/>
                </a:solidFill>
                <a:latin typeface="JetBrains Mono"/>
              </a:rPr>
              <a:t>✓ ХОРОШИЙ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Роль задана («ты HR-директор»)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Задача конкретна и измерима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Формат указан (таблица / 5 пунктов)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3FB950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Есть рамки: «без воды», «не выдумывай цифры»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965960"/>
            <a:ext cx="5431536" cy="35661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2167128"/>
            <a:ext cx="4974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FF4D4F"/>
                </a:solidFill>
                <a:latin typeface="JetBrains Mono"/>
              </a:rPr>
              <a:t>✗ ПЛОХОЙ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715768"/>
            <a:ext cx="492861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«Напиши про маркетинг»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Непонятно, что именно нужно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Формат не задан — получишь простыню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FF4D4F"/>
                </a:solidFill>
                <a:latin typeface="JetBrains Mono"/>
              </a:rPr>
              <a:t>› </a:t>
            </a:r>
            <a:r>
              <a:rPr sz="1150" b="0">
                <a:solidFill>
                  <a:srgbClr val="E6EDF3"/>
                </a:solidFill>
                <a:latin typeface="Geist"/>
              </a:rPr>
              <a:t>Нет ограничений — ИИ додумает лишнее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Приёмы посильнее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Дай пример — </a:t>
            </a:r>
            <a:r>
              <a:rPr sz="1300" b="0">
                <a:solidFill>
                  <a:srgbClr val="8B98A5"/>
                </a:solidFill>
                <a:latin typeface="Geist"/>
              </a:rPr>
              <a:t>покажи желаемый вид ответа — ИИ повторит стиль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Попроси вопросы — </a:t>
            </a:r>
            <a:r>
              <a:rPr sz="1300" b="0">
                <a:solidFill>
                  <a:srgbClr val="8B98A5"/>
                </a:solidFill>
                <a:latin typeface="Geist"/>
              </a:rPr>
              <a:t>«задай мне уточняющие вопросы перед ответом»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Покажи рассуждение — </a:t>
            </a:r>
            <a:r>
              <a:rPr sz="1300" b="0">
                <a:solidFill>
                  <a:srgbClr val="8B98A5"/>
                </a:solidFill>
                <a:latin typeface="Geist"/>
              </a:rPr>
              <a:t>«объясни, почему так» — видно логику и ошибки</a:t>
            </a:r>
          </a:p>
          <a:p>
            <a:pPr>
              <a:spcAft>
                <a:spcPts val="12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3 варианта — </a:t>
            </a:r>
            <a:r>
              <a:rPr sz="1300" b="0">
                <a:solidFill>
                  <a:srgbClr val="8B98A5"/>
                </a:solidFill>
                <a:latin typeface="Geist"/>
              </a:rPr>
              <a:t>«дай 3 варианта и порекомендуй один»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Как это в чате / 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2377440"/>
          </a:xfrm>
          <a:prstGeom prst="roundRect">
            <a:avLst/>
          </a:prstGeom>
          <a:solidFill>
            <a:srgbClr val="0E141C"/>
          </a:solidFill>
          <a:ln w="127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94560"/>
            <a:ext cx="10634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8CFF"/>
                </a:solidFill>
                <a:latin typeface="JetBrains Mono"/>
              </a:rPr>
              <a:t>Промпт по РЗФО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15184"/>
            <a:ext cx="1058875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EDF3"/>
                </a:solidFill>
                <a:latin typeface="JetBrains Mono"/>
              </a:rPr>
              <a:t>ape ask "Ты — &lt;роль&gt;. &lt;Задача конкретно&gt;.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Формат: &lt;таблица / N пунктов / письмо&gt;.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Ограничения: без воды; не выдумывай цифры;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>  используй только мой текст."</a:t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8B98A5"/>
                </a:solidFill>
                <a:latin typeface="JetBrains Mono"/>
              </a:rPr>
              <a:t/>
            </a:r>
          </a:p>
          <a:p>
            <a:pPr>
              <a:spcAft>
                <a:spcPts val="600"/>
              </a:spcAft>
            </a:pPr>
            <a:r>
              <a:rPr sz="1050" b="0">
                <a:solidFill>
                  <a:srgbClr val="5C6975"/>
                </a:solidFill>
                <a:latin typeface="JetBrains Mono"/>
              </a:rPr>
              <a:t># сравни ответ на 'плохой' и 'хороший' промпт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6EDF3"/>
                </a:solidFill>
                <a:latin typeface="Geist"/>
              </a:rPr>
              <a:t>ДЗ: составить промпт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8CFF"/>
                </a:solidFill>
                <a:latin typeface="JetBrains Mono"/>
              </a:rPr>
              <a:t>engineer-ai.pro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2560" y="65105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5C6975"/>
                </a:solidFill>
                <a:latin typeface="Geist"/>
              </a:rPr>
              <a:t>AI Product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51052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C6975"/>
                </a:solidFill>
                <a:latin typeface="JetBrains Mono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91672" cy="1051560"/>
          </a:xfrm>
          <a:prstGeom prst="roundRect">
            <a:avLst/>
          </a:prstGeom>
          <a:solidFill>
            <a:srgbClr val="121821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214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8CFF"/>
                </a:solidFill>
                <a:latin typeface="Geist"/>
              </a:rPr>
              <a:t>Промпт под реальную рабочую задачу по РЗФО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Оформи по РЗФО — </a:t>
            </a:r>
            <a:r>
              <a:rPr sz="1300" b="0">
                <a:solidFill>
                  <a:srgbClr val="8B98A5"/>
                </a:solidFill>
                <a:latin typeface="Geist"/>
              </a:rPr>
              <a:t>роль · задача · формат · ограничения</a:t>
            </a:r>
          </a:p>
          <a:p>
            <a:pPr>
              <a:spcAft>
                <a:spcPts val="13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Сравни до/после — </a:t>
            </a:r>
            <a:r>
              <a:rPr sz="1300" b="0">
                <a:solidFill>
                  <a:srgbClr val="8B98A5"/>
                </a:solidFill>
                <a:latin typeface="Geist"/>
              </a:rPr>
              <a:t>ответ на слабый и на улучшенный промпт</a:t>
            </a:r>
          </a:p>
          <a:p>
            <a:pPr>
              <a:spcAft>
                <a:spcPts val="1300"/>
              </a:spcAft>
            </a:pPr>
            <a:r>
              <a:rPr sz="1350" b="1">
                <a:solidFill>
                  <a:srgbClr val="5B8CFF"/>
                </a:solidFill>
                <a:latin typeface="JetBrains Mono"/>
              </a:rPr>
              <a:t>› </a:t>
            </a:r>
            <a:r>
              <a:rPr sz="1300" b="1">
                <a:solidFill>
                  <a:srgbClr val="5B8CFF"/>
                </a:solidFill>
                <a:latin typeface="Geist"/>
              </a:rPr>
              <a:t>Вывод 3 строки — </a:t>
            </a:r>
            <a:r>
              <a:rPr sz="1300" b="0">
                <a:solidFill>
                  <a:srgbClr val="8B98A5"/>
                </a:solidFill>
                <a:latin typeface="Geist"/>
              </a:rPr>
              <a:t>что изменилось и почему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