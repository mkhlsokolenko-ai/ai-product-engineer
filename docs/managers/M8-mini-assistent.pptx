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09728" cy="15544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JetBrains Mono"/>
              </a:rPr>
              <a:t>AI ДЛЯ МЕНЕДЖЕРОВ · ОБЗОРНЫЙ КУРС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Geist"/>
              </a:rPr>
              <a:t>Модуль 8. Свой мини-ассистент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8A5"/>
                </a:solidFill>
                <a:latin typeface="Geist"/>
              </a:rPr>
              <a:t>Итог курса: связать промпт + скилл + данные под одну свою реальную задачу.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264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975"/>
                </a:solidFill>
                <a:latin typeface="JetBrains Mono"/>
              </a:rPr>
              <a:t>M8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Пять кубиков вашего ассистента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185257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0545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Промпт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52928"/>
            <a:ext cx="157825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РЗФО
(М2)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1214" y="28163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8414" y="2377440"/>
            <a:ext cx="185257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5574" y="250545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Скилл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5574" y="2852928"/>
            <a:ext cx="157825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готовый
или свой (М3-4)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0988" y="28163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8188" y="2377440"/>
            <a:ext cx="185257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5348" y="250545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5348" y="2852928"/>
            <a:ext cx="157825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файлы /
база (М5)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0763" y="28163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7963" y="2377440"/>
            <a:ext cx="185257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5123" y="250545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Проверка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5123" y="2852928"/>
            <a:ext cx="157825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критерии
(М6)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0537" y="28163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7737" y="2377440"/>
            <a:ext cx="185257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4897" y="250545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Агенты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4897" y="2852928"/>
            <a:ext cx="157825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по желанию
(М7)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23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Не всё сразу: минимум — промпт + скилл + проверка. Данные и агенты добавляете по необходимости.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Защита (5 минут)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Задача — </a:t>
            </a:r>
            <a:r>
              <a:rPr sz="1300" b="0">
                <a:solidFill>
                  <a:srgbClr val="8B98A5"/>
                </a:solidFill>
                <a:latin typeface="Geist"/>
              </a:rPr>
              <a:t>какую реальную рабочую задачу решает ассистент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Как работает — </a:t>
            </a:r>
            <a:r>
              <a:rPr sz="1300" b="0">
                <a:solidFill>
                  <a:srgbClr val="8B98A5"/>
                </a:solidFill>
                <a:latin typeface="Geist"/>
              </a:rPr>
              <a:t>покажи промпт + скилл + данные в деле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Чем лучше — </a:t>
            </a:r>
            <a:r>
              <a:rPr sz="1300" b="0">
                <a:solidFill>
                  <a:srgbClr val="8B98A5"/>
                </a:solidFill>
                <a:latin typeface="Geist"/>
              </a:rPr>
              <a:t>чем результат лучше «просто спросить у ИИ»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Проверка — </a:t>
            </a:r>
            <a:r>
              <a:rPr sz="1300" b="0">
                <a:solidFill>
                  <a:srgbClr val="8B98A5"/>
                </a:solidFill>
                <a:latin typeface="Geist"/>
              </a:rPr>
              <a:t>по каким критериям ты доверяешь результату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Финальный чек-лист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5B8CFF"/>
                </a:solidFill>
                <a:latin typeface="JetBrains Mono"/>
              </a:rPr>
              <a:t/>
            </a:r>
            <a:r>
              <a:rPr sz="1400" b="0">
                <a:solidFill>
                  <a:srgbClr val="E6EDF3"/>
                </a:solidFill>
                <a:latin typeface="Geist"/>
              </a:rPr>
              <a:t>☐ Промпт по РЗФО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5B8CFF"/>
                </a:solidFill>
                <a:latin typeface="JetBrains Mono"/>
              </a:rPr>
              <a:t/>
            </a:r>
            <a:r>
              <a:rPr sz="1400" b="0">
                <a:solidFill>
                  <a:srgbClr val="E6EDF3"/>
                </a:solidFill>
                <a:latin typeface="Geist"/>
              </a:rPr>
              <a:t>☐ Подключён/составлен скилл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5B8CFF"/>
                </a:solidFill>
                <a:latin typeface="JetBrains Mono"/>
              </a:rPr>
              <a:t/>
            </a:r>
            <a:r>
              <a:rPr sz="1400" b="0">
                <a:solidFill>
                  <a:srgbClr val="E6EDF3"/>
                </a:solidFill>
                <a:latin typeface="Geist"/>
              </a:rPr>
              <a:t>☐ Приложены данные / база знаний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5B8CFF"/>
                </a:solidFill>
                <a:latin typeface="JetBrains Mono"/>
              </a:rPr>
              <a:t/>
            </a:r>
            <a:r>
              <a:rPr sz="1400" b="0">
                <a:solidFill>
                  <a:srgbClr val="E6EDF3"/>
                </a:solidFill>
                <a:latin typeface="Geist"/>
              </a:rPr>
              <a:t>☐ Есть критерии проверки результата</a:t>
            </a:r>
          </a:p>
          <a:p>
            <a:pPr>
              <a:spcAft>
                <a:spcPts val="1300"/>
              </a:spcAft>
            </a:pPr>
            <a:r>
              <a:rPr sz="1450" b="1">
                <a:solidFill>
                  <a:srgbClr val="5B8CFF"/>
                </a:solidFill>
                <a:latin typeface="JetBrains Mono"/>
              </a:rPr>
              <a:t/>
            </a:r>
            <a:r>
              <a:rPr sz="1400" b="0">
                <a:solidFill>
                  <a:srgbClr val="E6EDF3"/>
                </a:solidFill>
                <a:latin typeface="Geist"/>
              </a:rPr>
              <a:t>☐ Рабочий результат на реальной задаче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