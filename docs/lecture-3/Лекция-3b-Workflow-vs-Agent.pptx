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3 · БЛОК 1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Выбор архитектуры: workflow vs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Самое дорогое решение проекта. Выбираем осознанно по 5 критериям — и обосновываем в ADR.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w3l2 · 15.09.2026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Почему это дорогое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Определяет стоимость — </a:t>
            </a:r>
            <a:r>
              <a:rPr sz="1300" b="0">
                <a:solidFill>
                  <a:srgbClr val="8B98A5"/>
                </a:solidFill>
                <a:latin typeface="Geist"/>
              </a:rPr>
              <a:t>агент = токены на шаг × число шагов; workflow предсказуем и дёшев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Определяет надёжность — </a:t>
            </a:r>
            <a:r>
              <a:rPr sz="1300" b="0">
                <a:solidFill>
                  <a:srgbClr val="8B98A5"/>
                </a:solidFill>
                <a:latin typeface="Geist"/>
              </a:rPr>
              <a:t>жёсткий граф детерминирован; агент вариативен и труднее тестируется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Определяет сроки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переусложнённый агент там, где хватило бы workflow, — недели впустую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Решается ОДИН раз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переписать архитектуру в середине семестра дорого — поэтому обосновываем сейчас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Идёт в ADR и в КТ1 — </a:t>
            </a:r>
            <a:r>
              <a:rPr sz="1300" b="0">
                <a:solidFill>
                  <a:srgbClr val="8B98A5"/>
                </a:solidFill>
                <a:latin typeface="Geist"/>
              </a:rPr>
              <a:t>10 баллов рубрики КТ1 — именно за обоснованное архитектурное решение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Три архитектуры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Определения без жаргона.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0175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8CFF"/>
                </a:solidFill>
                <a:latin typeface="Geist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Заранее заданный граф шагов. Ты решаешь порядок, LLM выполняет отдельные шаги.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30175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8CFF"/>
                </a:solidFill>
                <a:latin typeface="Geist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LLM в цикле сам решает, какой инструмент вызвать и когда остановиться.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30175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8CFF"/>
                </a:solidFill>
                <a:latin typeface="Geist"/>
              </a:rPr>
              <a:t>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063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Агент пишет/выбирает workflow, дальше выполняется детерминированно.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  <a:latin typeface="Geist"/>
              </a:rPr>
              <a:t>По умолчанию начинай с workflow. Усложняй до агента, только когда докажешь, что без него не решить.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они работают: схема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Разница видна на потоке управления.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WORKFLOW — ФИКСИРОВАННЫЙ ГРАФ (КТО РЕШАЕТ: ТЫ)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852574" cy="8229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682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1214" y="24505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8414" y="2240280"/>
            <a:ext cx="1852574" cy="8229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5574" y="23682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Шаг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574" y="2715768"/>
            <a:ext cx="15782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988" y="24505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8188" y="2240280"/>
            <a:ext cx="1852574" cy="8229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348" y="23682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Шаг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5348" y="2715768"/>
            <a:ext cx="15782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763" y="24505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7963" y="2240280"/>
            <a:ext cx="1852574" cy="8229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5123" y="23682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Шаг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5123" y="2715768"/>
            <a:ext cx="15782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0537" y="24505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7737" y="2240280"/>
            <a:ext cx="1852574" cy="8229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4897" y="23682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Выход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204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AGENT — ЦИКЛ С РЕШЕНИЕМ (КТО РЕШАЕТ: LLM)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86200"/>
            <a:ext cx="1852574" cy="914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014215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Вход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1214" y="4142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8414" y="3886200"/>
            <a:ext cx="1852574" cy="914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5574" y="4014215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LLM решает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5574" y="436168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какой tool?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0988" y="4142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8188" y="3886200"/>
            <a:ext cx="1852574" cy="914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5348" y="4014215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5348" y="436168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вызов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0763" y="4142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7963" y="3886200"/>
            <a:ext cx="1852574" cy="914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5123" y="4014215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Наблюдение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5123" y="436168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результат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0537" y="4142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7737" y="3886200"/>
            <a:ext cx="1852574" cy="914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4897" y="4014215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Хватит?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4897" y="436168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нет → назад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Workflow: путь известен заранее — легко тестировать и считать стоимость. Agent: путь выбирается на лету — гибко, но дороже и менее предсказуемо.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Decision tree: 5 критериев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По каждому критерию идея «тянет» к workflow или к агенту. Считаем перевес.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91671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169663"/>
                <a:gridCol w="4178808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Критерий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→ Workflow, если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→ Agent, если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Регулярность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часто, одинаково (раз в час/минуту)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спорадически, каждый раз по-разному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Цена ошибки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высокая — нужен контроль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низкая — можно дать свободу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Креативность ответа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фиксированный output/формат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вариативный, творческий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Частота смены логики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меняется редко (раз в год)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меняется часто — жёсткий граф не успевает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Compliance / audit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нужен аудит каждого шага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 требуется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50/50 — так и назови это в ADR и объясни trade-off. Честное «пограничный случай» лучше ложной уверенности.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лучше, что хуже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Прямое сравнение сильных и слабых сторон.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WORKFLOW — СИЛЬНЫЕ СТОРОНЫ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Предсказуемый и дешёвый (шаги известны)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Легко тестировать и логировать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Аудируемость каждого шага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Быстрый старт, меньше кода-обвязки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WORKFLOW — СЛАБЫЕ СТОРОНЫ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Хрупок к нестандартному входу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 адаптируется к новой ситуации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Логику меняешь руками при каждом изменении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«Ветвлений» становится много — граф пухнет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Agent: сильные и слабые стороны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Свобода стоит денег и предсказуемости.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AGENT — СИЛЬНЫЕ СТОРОНЫ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Адаптируется к неожиданному входу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Сам выбирает инструменты и порядок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Хорош для открытых, творческих задач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Меньше ручной логики ветвлений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AGENT — СЛАБЫЕ СТОРОНЫ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Дороже: токены × шаги, цикл может гулять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Стохастичен — труднее тестировать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Сложнее аудит («почему так решил?»)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Риск зацикливания / лишних вызовов tool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Hybrid и 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Золотая середина — и две ловушки по краям.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3716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Hybrid: agent-writes-workflow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Агент один раз строит план/граф под задачу, дальше он исполняется детерминированно. Гибкость на входе + предсказуемость на исполнении.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5431536" cy="2286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2160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ОШИБКА №1: АГЕНТ ВМЕСТО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70248"/>
            <a:ext cx="4928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Взяли агента на регулярную одинаковую задачу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Итог: дорого, медленно, непредсказуемо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Лечение: свернуть в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520440"/>
            <a:ext cx="5431536" cy="2286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72160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ОШИБКА №2: WORKFLOW ВМЕСТО АГЕНТА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270248"/>
            <a:ext cx="4928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Жёсткий граф на задачу с вариативным входом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Итог: бесконечные if-ы, ломается на краях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Лечение: дать агенту решать шаг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выбрать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Скилл architecture-chooser проведёт по 5 критериям и даст обоснование.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architecture-chooser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/skills   → architecture-chooser: 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ask "по описанию задачи помоги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выбрать: workflow / agent / hybrid.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задай вопросы по 5 критериям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(регулярность, цена ошибки,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креативность, частота смены логики,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compliance). дай рекомендацию с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обоснованием по каждому. если 50/50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— назови и объясни trade-off.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задача: &lt;моя идея&gt;"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ЧЕК-ЛИСТ ОБОСНОВАНИЯ (В ADR)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6974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1">
                <a:solidFill>
                  <a:srgbClr val="5B8CFF"/>
                </a:solidFill>
                <a:latin typeface="Geist"/>
              </a:rPr>
              <a:t>Регулярность — </a:t>
            </a:r>
            <a:r>
              <a:rPr sz="1150" b="0">
                <a:solidFill>
                  <a:srgbClr val="8B98A5"/>
                </a:solidFill>
                <a:latin typeface="Geist"/>
              </a:rPr>
              <a:t>раз в день / час / минуту / спорадически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1">
                <a:solidFill>
                  <a:srgbClr val="5B8CFF"/>
                </a:solidFill>
                <a:latin typeface="Geist"/>
              </a:rPr>
              <a:t>Цена ошибки — </a:t>
            </a:r>
            <a:r>
              <a:rPr sz="1150" b="0">
                <a:solidFill>
                  <a:srgbClr val="8B98A5"/>
                </a:solidFill>
                <a:latin typeface="Geist"/>
              </a:rPr>
              <a:t>низкая / средняя / высокая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1">
                <a:solidFill>
                  <a:srgbClr val="5B8CFF"/>
                </a:solidFill>
                <a:latin typeface="Geist"/>
              </a:rPr>
              <a:t>Креативность — </a:t>
            </a:r>
            <a:r>
              <a:rPr sz="1150" b="0">
                <a:solidFill>
                  <a:srgbClr val="8B98A5"/>
                </a:solidFill>
                <a:latin typeface="Geist"/>
              </a:rPr>
              <a:t>фиксированный / вариативный output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1">
                <a:solidFill>
                  <a:srgbClr val="5B8CFF"/>
                </a:solidFill>
                <a:latin typeface="Geist"/>
              </a:rPr>
              <a:t>Смена логики — </a:t>
            </a:r>
            <a:r>
              <a:rPr sz="1150" b="0">
                <a:solidFill>
                  <a:srgbClr val="8B98A5"/>
                </a:solidFill>
                <a:latin typeface="Geist"/>
              </a:rPr>
              <a:t>раз в год / месяц / неделю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1">
                <a:solidFill>
                  <a:srgbClr val="5B8CFF"/>
                </a:solidFill>
                <a:latin typeface="Geist"/>
              </a:rPr>
              <a:t>Compliance — </a:t>
            </a:r>
            <a:r>
              <a:rPr sz="1150" b="0">
                <a:solidFill>
                  <a:srgbClr val="8B98A5"/>
                </a:solidFill>
                <a:latin typeface="Geist"/>
              </a:rPr>
              <a:t>нужен аудит / нет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Стоимость решения в цифрах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Почему «агент по умолчанию» бьёт по кошельку.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986784"/>
                <a:gridCol w="399592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Workflow (3 шага)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Agent (в среднем 8 шагов цикла)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Вызовов LLM на задачу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3 (известно заранее)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8–15 (решает сам, может гулять)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Предсказуемость cost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высокая — считается точно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низкая — оценка по среднему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Стоимость (относительно)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×1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×3–5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Это прямая связь с Блоком 2 (Cost-of-AI ADR, неделя 5): архитектурный выбор — это и есть первое решение про экономику продукта. Агент оправдан, когда его гибкость приносит ценность больше, чем стоит перерасход токенов.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Практика и мост к КТ1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19202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НА ПАРЕ (30 МИН)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Прогони свои 3 идеи через architecture-chooser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Для выбранной — заполни чек-лист по 5 критериям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Сформулируй решение workflow/agent/hybrid одним абзацем с обоснованием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11091672" cy="1828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К КТ1 (decision.md)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Архитектурное решение с обоснованием по 5 критериям (10 баллов рубрики). На неделе 4 это решение определит шаблон design-doc: workflow-first → MLSDD, agent-first → Agent Design Doc.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