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2788920"/>
            <a:ext cx="109728" cy="1554480"/>
          </a:xfrm>
          <a:prstGeom prst="roundRect">
            <a:avLst/>
          </a:prstGeom>
          <a:solidFill>
            <a:srgbClr val="5B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128016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5B8CFF"/>
                </a:solidFill>
                <a:latin typeface="JetBrains Mono"/>
              </a:rPr>
              <a:t>НЕДЕЛЯ 3 · БЛОК 1→4 · ОЦЕНКА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7432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E6EDF3"/>
                </a:solidFill>
                <a:latin typeface="Geist"/>
              </a:rPr>
              <a:t>Evals своими руками: LLM-as-judge на нашем Qwen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434340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8B98A5"/>
                </a:solidFill>
                <a:latin typeface="Geist"/>
              </a:rPr>
              <a:t>Мерить качество агента, а не гадать. Судья на self-host Qwen — почти бесплатно, приватно, на каждом коммите.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612648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B8CFF"/>
                </a:solidFill>
                <a:latin typeface="JetBrains Mono"/>
              </a:rPr>
              <a:t>engineer-ai.pro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0" y="6126480"/>
            <a:ext cx="3794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C6975"/>
                </a:solidFill>
                <a:latin typeface="JetBrains Mono"/>
              </a:rPr>
              <a:t>w3l4 · 17.09.2026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E6EDF3"/>
                </a:solidFill>
                <a:latin typeface="Geist"/>
              </a:rPr>
              <a:t>Что унесёте с пары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10528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8CFF"/>
                </a:solidFill>
                <a:latin typeface="JetBrains Mono"/>
              </a:rPr>
              <a:t>engineer-ai.pro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52560" y="6510528"/>
            <a:ext cx="2468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0">
                <a:solidFill>
                  <a:srgbClr val="5C6975"/>
                </a:solidFill>
                <a:latin typeface="Geist"/>
              </a:rPr>
              <a:t>AI Product Engineer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521440" y="6510528"/>
            <a:ext cx="502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C6975"/>
                </a:solidFill>
                <a:latin typeface="JetBrains Mono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828800"/>
            <a:ext cx="109728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50" b="1">
                <a:solidFill>
                  <a:srgbClr val="5B8CFF"/>
                </a:solidFill>
                <a:latin typeface="JetBrains Mono"/>
              </a:rPr>
              <a:t>› </a:t>
            </a:r>
            <a:r>
              <a:rPr sz="1300" b="1">
                <a:solidFill>
                  <a:srgbClr val="5B8CFF"/>
                </a:solidFill>
                <a:latin typeface="Geist"/>
              </a:rPr>
              <a:t>Три грейдера — </a:t>
            </a:r>
            <a:r>
              <a:rPr sz="1300" b="0">
                <a:solidFill>
                  <a:srgbClr val="8B98A5"/>
                </a:solidFill>
                <a:latin typeface="Geist"/>
              </a:rPr>
              <a:t>code / LLM-as-judge / human — и выбор типа под кейс</a:t>
            </a:r>
          </a:p>
          <a:p>
            <a:pPr>
              <a:spcAft>
                <a:spcPts val="1200"/>
              </a:spcAft>
            </a:pPr>
            <a:r>
              <a:rPr sz="1350" b="1">
                <a:solidFill>
                  <a:srgbClr val="5B8CFF"/>
                </a:solidFill>
                <a:latin typeface="JetBrains Mono"/>
              </a:rPr>
              <a:t>› </a:t>
            </a:r>
            <a:r>
              <a:rPr sz="1300" b="1">
                <a:solidFill>
                  <a:srgbClr val="5B8CFF"/>
                </a:solidFill>
                <a:latin typeface="Geist"/>
              </a:rPr>
              <a:t>Eval-датасет — </a:t>
            </a:r>
            <a:r>
              <a:rPr sz="1300" b="0">
                <a:solidFill>
                  <a:srgbClr val="8B98A5"/>
                </a:solidFill>
                <a:latin typeface="Geist"/>
              </a:rPr>
              <a:t>собрать JSONL: happy-path + границы + негативы + outcome</a:t>
            </a:r>
          </a:p>
          <a:p>
            <a:pPr>
              <a:spcAft>
                <a:spcPts val="1200"/>
              </a:spcAft>
            </a:pPr>
            <a:r>
              <a:rPr sz="1350" b="1">
                <a:solidFill>
                  <a:srgbClr val="5B8CFF"/>
                </a:solidFill>
                <a:latin typeface="JetBrains Mono"/>
              </a:rPr>
              <a:t>› </a:t>
            </a:r>
            <a:r>
              <a:rPr sz="1300" b="1">
                <a:solidFill>
                  <a:srgbClr val="5B8CFF"/>
                </a:solidFill>
                <a:latin typeface="Geist"/>
              </a:rPr>
              <a:t>Прогон и pass-rate — </a:t>
            </a:r>
            <a:r>
              <a:rPr sz="1300" b="0">
                <a:solidFill>
                  <a:srgbClr val="8B98A5"/>
                </a:solidFill>
                <a:latin typeface="Geist"/>
              </a:rPr>
              <a:t>запустить через курсовой MCP и посчитать метрику</a:t>
            </a:r>
          </a:p>
          <a:p>
            <a:pPr>
              <a:spcAft>
                <a:spcPts val="1200"/>
              </a:spcAft>
            </a:pPr>
            <a:r>
              <a:rPr sz="1350" b="1">
                <a:solidFill>
                  <a:srgbClr val="5B8CFF"/>
                </a:solidFill>
                <a:latin typeface="JetBrains Mono"/>
              </a:rPr>
              <a:t>› </a:t>
            </a:r>
            <a:r>
              <a:rPr sz="1300" b="1">
                <a:solidFill>
                  <a:srgbClr val="5B8CFF"/>
                </a:solidFill>
                <a:latin typeface="Geist"/>
              </a:rPr>
              <a:t>Судья на Qwen — </a:t>
            </a:r>
            <a:r>
              <a:rPr sz="1300" b="0">
                <a:solidFill>
                  <a:srgbClr val="8B98A5"/>
                </a:solidFill>
                <a:latin typeface="Geist"/>
              </a:rPr>
              <a:t>перевести судью с DeepSeek на self-host Qwen (марж. стоимость ≈0)</a:t>
            </a:r>
          </a:p>
          <a:p>
            <a:pPr>
              <a:spcAft>
                <a:spcPts val="1200"/>
              </a:spcAft>
            </a:pPr>
            <a:r>
              <a:rPr sz="1350" b="1">
                <a:solidFill>
                  <a:srgbClr val="5B8CFF"/>
                </a:solidFill>
                <a:latin typeface="JetBrains Mono"/>
              </a:rPr>
              <a:t>› </a:t>
            </a:r>
            <a:r>
              <a:rPr sz="1300" b="1">
                <a:solidFill>
                  <a:srgbClr val="5B8CFF"/>
                </a:solidFill>
                <a:latin typeface="Geist"/>
              </a:rPr>
              <a:t>Калибровка — </a:t>
            </a:r>
            <a:r>
              <a:rPr sz="1300" b="0">
                <a:solidFill>
                  <a:srgbClr val="8B98A5"/>
                </a:solidFill>
                <a:latin typeface="Geist"/>
              </a:rPr>
              <a:t>сверить судью с human-разметкой, замерить agreement</a:t>
            </a:r>
          </a:p>
          <a:p>
            <a:pPr>
              <a:spcAft>
                <a:spcPts val="1200"/>
              </a:spcAft>
            </a:pPr>
            <a:r>
              <a:rPr sz="1350" b="1">
                <a:solidFill>
                  <a:srgbClr val="5B8CFF"/>
                </a:solidFill>
                <a:latin typeface="JetBrains Mono"/>
              </a:rPr>
              <a:t>› </a:t>
            </a:r>
            <a:r>
              <a:rPr sz="1300" b="1">
                <a:solidFill>
                  <a:srgbClr val="5B8CFF"/>
                </a:solidFill>
                <a:latin typeface="Geist"/>
              </a:rPr>
              <a:t>A/B + ADR — </a:t>
            </a:r>
            <a:r>
              <a:rPr sz="1300" b="0">
                <a:solidFill>
                  <a:srgbClr val="8B98A5"/>
                </a:solidFill>
                <a:latin typeface="Geist"/>
              </a:rPr>
              <a:t>сравнить две версии промпта и зафиксировать цифры в ADR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E6EDF3"/>
                </a:solidFill>
                <a:latin typeface="Geist"/>
              </a:rPr>
              <a:t>Eval — навык №1, а не последний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70432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B98A5"/>
                </a:solidFill>
                <a:latin typeface="Geist"/>
              </a:rPr>
              <a:t>Урок CMU 11-768: оценку ставят рано, на песочнице, до финального агента.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10528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8CFF"/>
                </a:solidFill>
                <a:latin typeface="JetBrains Mono"/>
              </a:rPr>
              <a:t>engineer-ai.pro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052560" y="6510528"/>
            <a:ext cx="2468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0">
                <a:solidFill>
                  <a:srgbClr val="5C6975"/>
                </a:solidFill>
                <a:latin typeface="Geist"/>
              </a:rPr>
              <a:t>AI Product Engineer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521440" y="6510528"/>
            <a:ext cx="502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C6975"/>
                </a:solidFill>
                <a:latin typeface="JetBrains Mono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828800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5B8CFF"/>
                </a:solidFill>
                <a:latin typeface="JetBrains Mono"/>
              </a:rPr>
              <a:t>ПОРЯДОК НАВЫКОВ (КАК У CMU)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194560"/>
            <a:ext cx="3392424" cy="1097280"/>
          </a:xfrm>
          <a:prstGeom prst="roundRect">
            <a:avLst/>
          </a:prstGeom>
          <a:solidFill>
            <a:srgbClr val="121821"/>
          </a:solidFill>
          <a:ln w="12700">
            <a:solidFill>
              <a:srgbClr val="1F2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2322576"/>
            <a:ext cx="311810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5B8CFF"/>
                </a:solidFill>
                <a:latin typeface="Geist"/>
              </a:rPr>
              <a:t>Харнесс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670048"/>
            <a:ext cx="3118104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>
                <a:solidFill>
                  <a:srgbClr val="8B98A5"/>
                </a:solidFill>
                <a:latin typeface="Geist"/>
              </a:rPr>
              <a:t>собрать
агента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41064" y="2542032"/>
            <a:ext cx="4572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5C6975"/>
                </a:solidFill>
                <a:latin typeface="Geist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98264" y="2194560"/>
            <a:ext cx="3392424" cy="1097280"/>
          </a:xfrm>
          <a:prstGeom prst="roundRect">
            <a:avLst/>
          </a:prstGeom>
          <a:solidFill>
            <a:srgbClr val="121821"/>
          </a:solidFill>
          <a:ln w="12700">
            <a:solidFill>
              <a:srgbClr val="1F2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35424" y="2322576"/>
            <a:ext cx="311810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5B8CFF"/>
                </a:solidFill>
                <a:latin typeface="Geist"/>
              </a:rPr>
              <a:t>Eval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35424" y="2670048"/>
            <a:ext cx="3118104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>
                <a:solidFill>
                  <a:srgbClr val="8B98A5"/>
                </a:solidFill>
                <a:latin typeface="Geist"/>
              </a:rPr>
              <a:t>измерить
его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90688" y="2542032"/>
            <a:ext cx="4572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5C6975"/>
                </a:solidFill>
                <a:latin typeface="Geist"/>
              </a:rP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47888" y="2194560"/>
            <a:ext cx="3392424" cy="1097280"/>
          </a:xfrm>
          <a:prstGeom prst="roundRect">
            <a:avLst/>
          </a:prstGeom>
          <a:solidFill>
            <a:srgbClr val="121821"/>
          </a:solidFill>
          <a:ln w="12700">
            <a:solidFill>
              <a:srgbClr val="1F2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85048" y="2322576"/>
            <a:ext cx="311810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5B8CFF"/>
                </a:solidFill>
                <a:latin typeface="Geist"/>
              </a:rPr>
              <a:t>Train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85048" y="2670048"/>
            <a:ext cx="3118104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>
                <a:solidFill>
                  <a:srgbClr val="8B98A5"/>
                </a:solidFill>
                <a:latin typeface="Geist"/>
              </a:rPr>
              <a:t>дообучить
по метрике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3657600"/>
            <a:ext cx="11091672" cy="2286000"/>
          </a:xfrm>
          <a:prstGeom prst="roundRect">
            <a:avLst/>
          </a:prstGeom>
          <a:solidFill>
            <a:srgbClr val="121821"/>
          </a:solidFill>
          <a:ln w="12700">
            <a:solidFill>
              <a:srgbClr val="1F2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" y="384048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5B8CFF"/>
                </a:solidFill>
                <a:latin typeface="JetBrains Mono"/>
              </a:rPr>
              <a:t>ПОЧЕМУ EVAL — НЕ UNIT-ТЕСТ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4343400"/>
            <a:ext cx="105156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1">
                <a:solidFill>
                  <a:srgbClr val="5B8CFF"/>
                </a:solidFill>
                <a:latin typeface="JetBrains Mono"/>
              </a:rPr>
              <a:t>› </a:t>
            </a:r>
            <a:r>
              <a:rPr sz="1200" b="1">
                <a:solidFill>
                  <a:srgbClr val="5B8CFF"/>
                </a:solidFill>
                <a:latin typeface="Geist"/>
              </a:rPr>
              <a:t>Агент недетерминирован — </a:t>
            </a:r>
            <a:r>
              <a:rPr sz="1200" b="0">
                <a:solidFill>
                  <a:srgbClr val="8B98A5"/>
                </a:solidFill>
                <a:latin typeface="Geist"/>
              </a:rPr>
              <a:t>«правильных» ответов много, «неправильный» бывает синтаксически валидным</a:t>
            </a:r>
          </a:p>
          <a:p>
            <a:pPr>
              <a:spcAft>
                <a:spcPts val="900"/>
              </a:spcAft>
            </a:pPr>
            <a:r>
              <a:rPr sz="1250" b="1">
                <a:solidFill>
                  <a:srgbClr val="5B8CFF"/>
                </a:solidFill>
                <a:latin typeface="JetBrains Mono"/>
              </a:rPr>
              <a:t>› </a:t>
            </a:r>
            <a:r>
              <a:rPr sz="1200" b="1">
                <a:solidFill>
                  <a:srgbClr val="5B8CFF"/>
                </a:solidFill>
                <a:latin typeface="Geist"/>
              </a:rPr>
              <a:t>Нужен другой инструмент — </a:t>
            </a:r>
            <a:r>
              <a:rPr sz="1200" b="0">
                <a:solidFill>
                  <a:srgbClr val="8B98A5"/>
                </a:solidFill>
                <a:latin typeface="Geist"/>
              </a:rPr>
              <a:t>датасет + грейдеры + метрика, повторяемый прогон, число до/после</a:t>
            </a:r>
          </a:p>
          <a:p>
            <a:pPr>
              <a:spcAft>
                <a:spcPts val="900"/>
              </a:spcAft>
            </a:pPr>
            <a:r>
              <a:rPr sz="1250" b="1">
                <a:solidFill>
                  <a:srgbClr val="5B8CFF"/>
                </a:solidFill>
                <a:latin typeface="JetBrains Mono"/>
              </a:rPr>
              <a:t>› </a:t>
            </a:r>
            <a:r>
              <a:rPr sz="1200" b="1">
                <a:solidFill>
                  <a:srgbClr val="5B8CFF"/>
                </a:solidFill>
                <a:latin typeface="Geist"/>
              </a:rPr>
              <a:t>Сигнал рынка (FDE) — </a:t>
            </a:r>
            <a:r>
              <a:rPr sz="1200" b="0">
                <a:solidFill>
                  <a:srgbClr val="8B98A5"/>
                </a:solidFill>
                <a:latin typeface="Geist"/>
              </a:rPr>
              <a:t>настроенный eval — главный маркер реального опыта, а не демо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E6EDF3"/>
                </a:solidFill>
                <a:latin typeface="Geist"/>
              </a:rPr>
              <a:t>Три типа грейдеров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70432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B98A5"/>
                </a:solidFill>
                <a:latin typeface="Geist"/>
              </a:rPr>
              <a:t>В любом серьёзном pipeline есть все три. Только code — мало; только judge — рискованно.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10528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8CFF"/>
                </a:solidFill>
                <a:latin typeface="JetBrains Mono"/>
              </a:rPr>
              <a:t>engineer-ai.pro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052560" y="6510528"/>
            <a:ext cx="2468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0">
                <a:solidFill>
                  <a:srgbClr val="5C6975"/>
                </a:solidFill>
                <a:latin typeface="Geist"/>
              </a:rPr>
              <a:t>AI Product Engineer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521440" y="6510528"/>
            <a:ext cx="502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C6975"/>
                </a:solidFill>
                <a:latin typeface="JetBrains Mono"/>
              </a:rPr>
              <a:t>3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920240"/>
          <a:ext cx="11091672" cy="31089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463040"/>
                <a:gridCol w="4114800"/>
                <a:gridCol w="2377440"/>
                <a:gridCol w="3136392"/>
              </a:tblGrid>
              <a:tr h="777240"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5B8CFF"/>
                          </a:solidFill>
                          <a:latin typeface="JetBrains Mono"/>
                        </a:rPr>
                        <a:t>Тип</a:t>
                      </a:r>
                    </a:p>
                  </a:txBody>
                  <a:tcPr anchor="ctr" marT="38100" marB="38100" marL="101600" marR="101600">
                    <a:solidFill>
                      <a:srgbClr val="1A222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5B8CFF"/>
                          </a:solidFill>
                          <a:latin typeface="JetBrains Mono"/>
                        </a:rPr>
                        <a:t>Как работает</a:t>
                      </a:r>
                    </a:p>
                  </a:txBody>
                  <a:tcPr anchor="ctr" marT="38100" marB="38100" marL="101600" marR="101600">
                    <a:solidFill>
                      <a:srgbClr val="1A222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5B8CFF"/>
                          </a:solidFill>
                          <a:latin typeface="JetBrains Mono"/>
                        </a:rPr>
                        <a:t>Стоимость</a:t>
                      </a:r>
                    </a:p>
                  </a:txBody>
                  <a:tcPr anchor="ctr" marT="38100" marB="38100" marL="101600" marR="101600">
                    <a:solidFill>
                      <a:srgbClr val="1A222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5B8CFF"/>
                          </a:solidFill>
                          <a:latin typeface="JetBrains Mono"/>
                        </a:rPr>
                        <a:t>Когда брать</a:t>
                      </a:r>
                    </a:p>
                  </a:txBody>
                  <a:tcPr anchor="ctr" marT="38100" marB="38100" marL="101600" marR="101600">
                    <a:solidFill>
                      <a:srgbClr val="1A222E"/>
                    </a:solidFill>
                  </a:tcPr>
                </a:tc>
              </a:tr>
              <a:tr h="777240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E6EDF3"/>
                          </a:solidFill>
                          <a:latin typeface="Geist"/>
                        </a:rPr>
                        <a:t>code</a:t>
                      </a:r>
                    </a:p>
                  </a:txBody>
                  <a:tcPr anchor="ctr" marT="38100" marB="38100" marL="101600" marR="101600">
                    <a:solidFill>
                      <a:srgbClr val="12182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8B98A5"/>
                          </a:solidFill>
                          <a:latin typeface="Geist"/>
                        </a:rPr>
                        <a:t>Python: подстрока / JSON / число / кол-во пунктов</a:t>
                      </a:r>
                    </a:p>
                  </a:txBody>
                  <a:tcPr anchor="ctr" marT="38100" marB="38100" marL="101600" marR="101600">
                    <a:solidFill>
                      <a:srgbClr val="12182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8B98A5"/>
                          </a:solidFill>
                          <a:latin typeface="Geist"/>
                        </a:rPr>
                        <a:t>мс, детерминированно</a:t>
                      </a:r>
                    </a:p>
                  </a:txBody>
                  <a:tcPr anchor="ctr" marT="38100" marB="38100" marL="101600" marR="101600">
                    <a:solidFill>
                      <a:srgbClr val="12182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8B98A5"/>
                          </a:solidFill>
                          <a:latin typeface="Geist"/>
                        </a:rPr>
                        <a:t>structured output, факты, форматы</a:t>
                      </a:r>
                    </a:p>
                  </a:txBody>
                  <a:tcPr anchor="ctr" marT="38100" marB="38100" marL="101600" marR="101600">
                    <a:solidFill>
                      <a:srgbClr val="121821"/>
                    </a:solidFill>
                  </a:tcPr>
                </a:tc>
              </a:tr>
              <a:tr h="777240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E6EDF3"/>
                          </a:solidFill>
                          <a:latin typeface="Geist"/>
                        </a:rPr>
                        <a:t>LLM-judge</a:t>
                      </a:r>
                    </a:p>
                  </a:txBody>
                  <a:tcPr anchor="ctr" marT="38100" marB="38100" marL="101600" marR="101600">
                    <a:solidFill>
                      <a:srgbClr val="0B0F1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8B98A5"/>
                          </a:solidFill>
                          <a:latin typeface="Geist"/>
                        </a:rPr>
                        <a:t>дешёвая модель судит по rubric: PASS/FAIL</a:t>
                      </a:r>
                    </a:p>
                  </a:txBody>
                  <a:tcPr anchor="ctr" marT="38100" marB="38100" marL="101600" marR="101600">
                    <a:solidFill>
                      <a:srgbClr val="0B0F1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8B98A5"/>
                          </a:solidFill>
                          <a:latin typeface="Geist"/>
                        </a:rPr>
                        <a:t>зависит от модели судьи</a:t>
                      </a:r>
                    </a:p>
                  </a:txBody>
                  <a:tcPr anchor="ctr" marT="38100" marB="38100" marL="101600" marR="101600">
                    <a:solidFill>
                      <a:srgbClr val="0B0F1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8B98A5"/>
                          </a:solidFill>
                          <a:latin typeface="Geist"/>
                        </a:rPr>
                        <a:t>полезность, тон, ICP, faithfulness</a:t>
                      </a:r>
                    </a:p>
                  </a:txBody>
                  <a:tcPr anchor="ctr" marT="38100" marB="38100" marL="101600" marR="101600">
                    <a:solidFill>
                      <a:srgbClr val="0B0F14"/>
                    </a:solidFill>
                  </a:tcPr>
                </a:tc>
              </a:tr>
              <a:tr h="777240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E6EDF3"/>
                          </a:solidFill>
                          <a:latin typeface="Geist"/>
                        </a:rPr>
                        <a:t>human</a:t>
                      </a:r>
                    </a:p>
                  </a:txBody>
                  <a:tcPr anchor="ctr" marT="38100" marB="38100" marL="101600" marR="101600">
                    <a:solidFill>
                      <a:srgbClr val="12182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8B98A5"/>
                          </a:solidFill>
                          <a:latin typeface="Geist"/>
                        </a:rPr>
                        <a:t>человек размечает подвыборку</a:t>
                      </a:r>
                    </a:p>
                  </a:txBody>
                  <a:tcPr anchor="ctr" marT="38100" marB="38100" marL="101600" marR="101600">
                    <a:solidFill>
                      <a:srgbClr val="12182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8B98A5"/>
                          </a:solidFill>
                          <a:latin typeface="Geist"/>
                        </a:rPr>
                        <a:t>дорого, медленно</a:t>
                      </a:r>
                    </a:p>
                  </a:txBody>
                  <a:tcPr anchor="ctr" marT="38100" marB="38100" marL="101600" marR="101600">
                    <a:solidFill>
                      <a:srgbClr val="12182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8B98A5"/>
                          </a:solidFill>
                          <a:latin typeface="Geist"/>
                        </a:rPr>
                        <a:t>разметка, калибровка судьи, спорные</a:t>
                      </a:r>
                    </a:p>
                  </a:txBody>
                  <a:tcPr anchor="ctr" marT="38100" marB="38100" marL="101600" marR="101600">
                    <a:solidFill>
                      <a:srgbClr val="121821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48640" y="521208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C6975"/>
                </a:solidFill>
                <a:latin typeface="Geist"/>
              </a:rPr>
              <a:t>Human — контрольные 5–10% для калибровки судьи и ловли систематических ошибок. Нужен всегда, хотя бы 20–30 примеров.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E6EDF3"/>
                </a:solidFill>
                <a:latin typeface="Geist"/>
              </a:rPr>
              <a:t>LLM-as-judge: как не обмануть себя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70432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B98A5"/>
                </a:solidFill>
                <a:latin typeface="Geist"/>
              </a:rPr>
              <a:t>Судья — тоже модель, с теми же болезнями. Дисциплина обязательна.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10528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8CFF"/>
                </a:solidFill>
                <a:latin typeface="JetBrains Mono"/>
              </a:rPr>
              <a:t>engineer-ai.pro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052560" y="6510528"/>
            <a:ext cx="2468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0">
                <a:solidFill>
                  <a:srgbClr val="5C6975"/>
                </a:solidFill>
                <a:latin typeface="Geist"/>
              </a:rPr>
              <a:t>AI Product Engineer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521440" y="6510528"/>
            <a:ext cx="502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C6975"/>
                </a:solidFill>
                <a:latin typeface="JetBrains Mono"/>
              </a:rPr>
              <a:t>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965960"/>
            <a:ext cx="5431536" cy="3566160"/>
          </a:xfrm>
          <a:prstGeom prst="roundRect">
            <a:avLst/>
          </a:prstGeom>
          <a:solidFill>
            <a:srgbClr val="121821"/>
          </a:solidFill>
          <a:ln w="12700">
            <a:solidFill>
              <a:srgbClr val="1F2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2" y="2167128"/>
            <a:ext cx="497433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>
                <a:solidFill>
                  <a:srgbClr val="3FB950"/>
                </a:solidFill>
                <a:latin typeface="JetBrains Mono"/>
              </a:rPr>
              <a:t>✓ ТАК НАДО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" y="2715768"/>
            <a:ext cx="4928616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3FB950"/>
                </a:solidFill>
                <a:latin typeface="JetBrains Mono"/>
              </a:rPr>
              <a:t>› </a:t>
            </a:r>
            <a:r>
              <a:rPr sz="1150" b="0">
                <a:solidFill>
                  <a:srgbClr val="E6EDF3"/>
                </a:solidFill>
                <a:latin typeface="Geist"/>
              </a:rPr>
              <a:t>Критерий проверяемый: «есть цитата», «ровно 3 пункта», «есть число»</a:t>
            </a:r>
          </a:p>
          <a:p>
            <a:pPr>
              <a:spcAft>
                <a:spcPts val="1000"/>
              </a:spcAft>
            </a:pPr>
            <a:r>
              <a:rPr sz="1200" b="1">
                <a:solidFill>
                  <a:srgbClr val="3FB950"/>
                </a:solidFill>
                <a:latin typeface="JetBrains Mono"/>
              </a:rPr>
              <a:t>› </a:t>
            </a:r>
            <a:r>
              <a:rPr sz="1150" b="0">
                <a:solidFill>
                  <a:srgbClr val="E6EDF3"/>
                </a:solidFill>
                <a:latin typeface="Geist"/>
              </a:rPr>
              <a:t>Один критерий — одна проверка</a:t>
            </a:r>
          </a:p>
          <a:p>
            <a:pPr>
              <a:spcAft>
                <a:spcPts val="1000"/>
              </a:spcAft>
            </a:pPr>
            <a:r>
              <a:rPr sz="1200" b="1">
                <a:solidFill>
                  <a:srgbClr val="3FB950"/>
                </a:solidFill>
                <a:latin typeface="JetBrains Mono"/>
              </a:rPr>
              <a:t>› </a:t>
            </a:r>
            <a:r>
              <a:rPr sz="1150" b="0">
                <a:solidFill>
                  <a:srgbClr val="E6EDF3"/>
                </a:solidFill>
                <a:latin typeface="Geist"/>
              </a:rPr>
              <a:t>Промпт судьи версионируешь (меняешь → перегоняешь весь eval)</a:t>
            </a:r>
          </a:p>
          <a:p>
            <a:pPr>
              <a:spcAft>
                <a:spcPts val="1000"/>
              </a:spcAft>
            </a:pPr>
            <a:r>
              <a:rPr sz="1200" b="1">
                <a:solidFill>
                  <a:srgbClr val="3FB950"/>
                </a:solidFill>
                <a:latin typeface="JetBrains Mono"/>
              </a:rPr>
              <a:t>› </a:t>
            </a:r>
            <a:r>
              <a:rPr sz="1150" b="0">
                <a:solidFill>
                  <a:srgbClr val="E6EDF3"/>
                </a:solidFill>
                <a:latin typeface="Geist"/>
              </a:rPr>
              <a:t>Есть негативы: агент ДОЛЖЕН отказать/зафоллбечить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08776" y="1965960"/>
            <a:ext cx="5431536" cy="3566160"/>
          </a:xfrm>
          <a:prstGeom prst="roundRect">
            <a:avLst/>
          </a:prstGeom>
          <a:solidFill>
            <a:srgbClr val="121821"/>
          </a:solidFill>
          <a:ln w="12700">
            <a:solidFill>
              <a:srgbClr val="1F2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64808" y="2167128"/>
            <a:ext cx="497433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>
                <a:solidFill>
                  <a:srgbClr val="FF4D4F"/>
                </a:solidFill>
                <a:latin typeface="JetBrains Mono"/>
              </a:rPr>
              <a:t>✗ ТАК НЕЛЬЗЯ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64808" y="2715768"/>
            <a:ext cx="4928616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FF4D4F"/>
                </a:solidFill>
                <a:latin typeface="JetBrains Mono"/>
              </a:rPr>
              <a:t>› </a:t>
            </a:r>
            <a:r>
              <a:rPr sz="1150" b="0">
                <a:solidFill>
                  <a:srgbClr val="E6EDF3"/>
                </a:solidFill>
                <a:latin typeface="Geist"/>
              </a:rPr>
              <a:t>Критерий «ответ качественный» — не проверишь</a:t>
            </a:r>
          </a:p>
          <a:p>
            <a:pPr>
              <a:spcAft>
                <a:spcPts val="1000"/>
              </a:spcAft>
            </a:pPr>
            <a:r>
              <a:rPr sz="1200" b="1">
                <a:solidFill>
                  <a:srgbClr val="FF4D4F"/>
                </a:solidFill>
                <a:latin typeface="JetBrains Mono"/>
              </a:rPr>
              <a:t>› </a:t>
            </a:r>
            <a:r>
              <a:rPr sz="1150" b="0">
                <a:solidFill>
                  <a:srgbClr val="E6EDF3"/>
                </a:solidFill>
                <a:latin typeface="Geist"/>
              </a:rPr>
              <a:t>Смешал 3 проверки в один кейс</a:t>
            </a:r>
          </a:p>
          <a:p>
            <a:pPr>
              <a:spcAft>
                <a:spcPts val="1000"/>
              </a:spcAft>
            </a:pPr>
            <a:r>
              <a:rPr sz="1200" b="1">
                <a:solidFill>
                  <a:srgbClr val="FF4D4F"/>
                </a:solidFill>
                <a:latin typeface="JetBrains Mono"/>
              </a:rPr>
              <a:t>› </a:t>
            </a:r>
            <a:r>
              <a:rPr sz="1150" b="0">
                <a:solidFill>
                  <a:srgbClr val="E6EDF3"/>
                </a:solidFill>
                <a:latin typeface="Geist"/>
              </a:rPr>
              <a:t>Меняешь промпт судьи молча — метрики несравнимы</a:t>
            </a:r>
          </a:p>
          <a:p>
            <a:pPr>
              <a:spcAft>
                <a:spcPts val="1000"/>
              </a:spcAft>
            </a:pPr>
            <a:r>
              <a:rPr sz="1200" b="1">
                <a:solidFill>
                  <a:srgbClr val="FF4D4F"/>
                </a:solidFill>
                <a:latin typeface="JetBrains Mono"/>
              </a:rPr>
              <a:t>› </a:t>
            </a:r>
            <a:r>
              <a:rPr sz="1150" b="0">
                <a:solidFill>
                  <a:srgbClr val="E6EDF3"/>
                </a:solidFill>
                <a:latin typeface="Geist"/>
              </a:rPr>
              <a:t>Датасет только happy-path, без границ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E6EDF3"/>
                </a:solidFill>
                <a:latin typeface="Geist"/>
              </a:rPr>
              <a:t>Экономика: судья на нашем Qwen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70432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B98A5"/>
                </a:solidFill>
                <a:latin typeface="Geist"/>
              </a:rPr>
              <a:t>Судья вызывается на каждый кейс каждого прогона. На масштабе это решает всё.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10528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8CFF"/>
                </a:solidFill>
                <a:latin typeface="JetBrains Mono"/>
              </a:rPr>
              <a:t>engineer-ai.pro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052560" y="6510528"/>
            <a:ext cx="2468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0">
                <a:solidFill>
                  <a:srgbClr val="5C6975"/>
                </a:solidFill>
                <a:latin typeface="Geist"/>
              </a:rPr>
              <a:t>AI Product Engineer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521440" y="6510528"/>
            <a:ext cx="502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C6975"/>
                </a:solidFill>
                <a:latin typeface="JetBrains Mono"/>
              </a:rPr>
              <a:t>5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965960"/>
          <a:ext cx="11091672" cy="2286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840480"/>
                <a:gridCol w="2194560"/>
                <a:gridCol w="5056632"/>
              </a:tblGrid>
              <a:tr h="571500"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5B8CFF"/>
                          </a:solidFill>
                          <a:latin typeface="JetBrains Mono"/>
                        </a:rPr>
                        <a:t>Модель судьи</a:t>
                      </a:r>
                    </a:p>
                  </a:txBody>
                  <a:tcPr anchor="ctr" marT="38100" marB="38100" marL="101600" marR="101600">
                    <a:solidFill>
                      <a:srgbClr val="1A222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5B8CFF"/>
                          </a:solidFill>
                          <a:latin typeface="JetBrains Mono"/>
                        </a:rPr>
                        <a:t>Профиль</a:t>
                      </a:r>
                    </a:p>
                  </a:txBody>
                  <a:tcPr anchor="ctr" marT="38100" marB="38100" marL="101600" marR="101600">
                    <a:solidFill>
                      <a:srgbClr val="1A222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3FB950"/>
                          </a:solidFill>
                          <a:latin typeface="JetBrains Mono"/>
                        </a:rPr>
                        <a:t>≈ 1000 прогонов судьи</a:t>
                      </a:r>
                    </a:p>
                  </a:txBody>
                  <a:tcPr anchor="ctr" marT="38100" marB="38100" marL="101600" marR="101600">
                    <a:solidFill>
                      <a:srgbClr val="1A222E"/>
                    </a:solidFill>
                  </a:tcPr>
                </a:tc>
              </a:tr>
              <a:tr h="571500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E6EDF3"/>
                          </a:solidFill>
                          <a:latin typeface="Geist"/>
                        </a:rPr>
                        <a:t>DeepSeek v4-flash</a:t>
                      </a:r>
                    </a:p>
                  </a:txBody>
                  <a:tcPr anchor="ctr" marT="38100" marB="38100" marL="101600" marR="101600">
                    <a:solidFill>
                      <a:srgbClr val="12182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8B98A5"/>
                          </a:solidFill>
                          <a:latin typeface="Geist"/>
                        </a:rPr>
                        <a:t>research</a:t>
                      </a:r>
                    </a:p>
                  </a:txBody>
                  <a:tcPr anchor="ctr" marT="38100" marB="38100" marL="101600" marR="101600">
                    <a:solidFill>
                      <a:srgbClr val="12182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8B98A5"/>
                          </a:solidFill>
                          <a:latin typeface="Geist"/>
                        </a:rPr>
                        <a:t>≈ 9,5 ₽</a:t>
                      </a:r>
                    </a:p>
                  </a:txBody>
                  <a:tcPr anchor="ctr" marT="38100" marB="38100" marL="101600" marR="101600">
                    <a:solidFill>
                      <a:srgbClr val="121821"/>
                    </a:solidFill>
                  </a:tcPr>
                </a:tc>
              </a:tr>
              <a:tr h="571500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E6EDF3"/>
                          </a:solidFill>
                          <a:latin typeface="Geist"/>
                        </a:rPr>
                        <a:t>Qwen3.8-27B (API)</a:t>
                      </a:r>
                    </a:p>
                  </a:txBody>
                  <a:tcPr anchor="ctr" marT="38100" marB="38100" marL="101600" marR="101600">
                    <a:solidFill>
                      <a:srgbClr val="0B0F1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8B98A5"/>
                          </a:solidFill>
                          <a:latin typeface="Geist"/>
                        </a:rPr>
                        <a:t>—</a:t>
                      </a:r>
                    </a:p>
                  </a:txBody>
                  <a:tcPr anchor="ctr" marT="38100" marB="38100" marL="101600" marR="101600">
                    <a:solidFill>
                      <a:srgbClr val="0B0F1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8B98A5"/>
                          </a:solidFill>
                          <a:latin typeface="Geist"/>
                        </a:rPr>
                        <a:t>дороже DeepSeek</a:t>
                      </a:r>
                    </a:p>
                  </a:txBody>
                  <a:tcPr anchor="ctr" marT="38100" marB="38100" marL="101600" marR="101600">
                    <a:solidFill>
                      <a:srgbClr val="0B0F14"/>
                    </a:solidFill>
                  </a:tcPr>
                </a:tc>
              </a:tr>
              <a:tr h="571500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E6EDF3"/>
                          </a:solidFill>
                          <a:latin typeface="Geist"/>
                        </a:rPr>
                        <a:t>Qwen self-host  (local)</a:t>
                      </a:r>
                    </a:p>
                  </a:txBody>
                  <a:tcPr anchor="ctr" marT="38100" marB="38100" marL="101600" marR="101600">
                    <a:solidFill>
                      <a:srgbClr val="12182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8B98A5"/>
                          </a:solidFill>
                          <a:latin typeface="Geist"/>
                        </a:rPr>
                        <a:t>code</a:t>
                      </a:r>
                    </a:p>
                  </a:txBody>
                  <a:tcPr anchor="ctr" marT="38100" marB="38100" marL="101600" marR="101600">
                    <a:solidFill>
                      <a:srgbClr val="12182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8B98A5"/>
                          </a:solidFill>
                          <a:latin typeface="Geist"/>
                        </a:rPr>
                        <a:t>≈ 0 ₽ per-token (амортизация GPU)</a:t>
                      </a:r>
                    </a:p>
                  </a:txBody>
                  <a:tcPr anchor="ctr" marT="38100" marB="38100" marL="101600" marR="101600">
                    <a:solidFill>
                      <a:srgbClr val="121821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548640" y="4526280"/>
            <a:ext cx="11091672" cy="1417320"/>
          </a:xfrm>
          <a:prstGeom prst="roundRect">
            <a:avLst/>
          </a:prstGeom>
          <a:solidFill>
            <a:srgbClr val="121821"/>
          </a:solidFill>
          <a:ln w="12700">
            <a:solidFill>
              <a:srgbClr val="5B8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470916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5B8CFF"/>
                </a:solidFill>
                <a:latin typeface="Geist"/>
              </a:rPr>
              <a:t>Вывод, который уносим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525780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E6EDF3"/>
                </a:solidFill>
                <a:latin typeface="Geist"/>
              </a:rPr>
              <a:t>На self-host маржинальная стоимость вызова ≈ 0 (платим за GPU-часы, не за токен). Это меняет дизайн процесса, а не только бюджет.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E6EDF3"/>
                </a:solidFill>
                <a:latin typeface="Geist"/>
              </a:rPr>
              <a:t>Что даёт бесплатный судья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70432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B98A5"/>
                </a:solidFill>
                <a:latin typeface="Geist"/>
              </a:rPr>
              <a:t>Когда судить ничего не стоит — можно то, что при платном API упирается в счёт.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10528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8CFF"/>
                </a:solidFill>
                <a:latin typeface="JetBrains Mono"/>
              </a:rPr>
              <a:t>engineer-ai.pro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052560" y="6510528"/>
            <a:ext cx="2468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0">
                <a:solidFill>
                  <a:srgbClr val="5C6975"/>
                </a:solidFill>
                <a:latin typeface="Geist"/>
              </a:rPr>
              <a:t>AI Product Engineer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521440" y="6510528"/>
            <a:ext cx="502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C6975"/>
                </a:solidFill>
                <a:latin typeface="JetBrains Mono"/>
              </a:rPr>
              <a:t>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920240"/>
            <a:ext cx="109728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50" b="1">
                <a:solidFill>
                  <a:srgbClr val="5B8CFF"/>
                </a:solidFill>
                <a:latin typeface="JetBrains Mono"/>
              </a:rPr>
              <a:t>› </a:t>
            </a:r>
            <a:r>
              <a:rPr sz="1300" b="1">
                <a:solidFill>
                  <a:srgbClr val="5B8CFF"/>
                </a:solidFill>
                <a:latin typeface="Geist"/>
              </a:rPr>
              <a:t>Eval на каждом коммите — </a:t>
            </a:r>
            <a:r>
              <a:rPr sz="1300" b="0">
                <a:solidFill>
                  <a:srgbClr val="8B98A5"/>
                </a:solidFill>
                <a:latin typeface="Geist"/>
              </a:rPr>
              <a:t>вешаем судью в pre-commit / CI, гоняем на любом изменении промпта</a:t>
            </a:r>
          </a:p>
          <a:p>
            <a:pPr>
              <a:spcAft>
                <a:spcPts val="1300"/>
              </a:spcAft>
            </a:pPr>
            <a:r>
              <a:rPr sz="1350" b="1">
                <a:solidFill>
                  <a:srgbClr val="5B8CFF"/>
                </a:solidFill>
                <a:latin typeface="JetBrains Mono"/>
              </a:rPr>
              <a:t>› </a:t>
            </a:r>
            <a:r>
              <a:rPr sz="1300" b="1">
                <a:solidFill>
                  <a:srgbClr val="5B8CFF"/>
                </a:solidFill>
                <a:latin typeface="Geist"/>
              </a:rPr>
              <a:t>Majority-vote бесплатно — </a:t>
            </a:r>
            <a:r>
              <a:rPr sz="1300" b="0">
                <a:solidFill>
                  <a:srgbClr val="8B98A5"/>
                </a:solidFill>
                <a:latin typeface="Geist"/>
              </a:rPr>
              <a:t>судим в 3 прогона и берём модальный вердикт — гасим стохастичность даром</a:t>
            </a:r>
          </a:p>
          <a:p>
            <a:pPr>
              <a:spcAft>
                <a:spcPts val="1300"/>
              </a:spcAft>
            </a:pPr>
            <a:r>
              <a:rPr sz="1350" b="1">
                <a:solidFill>
                  <a:srgbClr val="5B8CFF"/>
                </a:solidFill>
                <a:latin typeface="JetBrains Mono"/>
              </a:rPr>
              <a:t>› </a:t>
            </a:r>
            <a:r>
              <a:rPr sz="1300" b="1">
                <a:solidFill>
                  <a:srgbClr val="5B8CFF"/>
                </a:solidFill>
                <a:latin typeface="Geist"/>
              </a:rPr>
              <a:t>Приватность — </a:t>
            </a:r>
            <a:r>
              <a:rPr sz="1300" b="0">
                <a:solidFill>
                  <a:srgbClr val="8B98A5"/>
                </a:solidFill>
                <a:latin typeface="Geist"/>
              </a:rPr>
              <a:t>судья на своём железе, данные не уходят наружу (важно для регулируемого периметра)</a:t>
            </a:r>
          </a:p>
          <a:p>
            <a:pPr>
              <a:spcAft>
                <a:spcPts val="1300"/>
              </a:spcAft>
            </a:pPr>
            <a:r>
              <a:rPr sz="1350" b="1">
                <a:solidFill>
                  <a:srgbClr val="5B8CFF"/>
                </a:solidFill>
                <a:latin typeface="JetBrains Mono"/>
              </a:rPr>
              <a:t>› </a:t>
            </a:r>
            <a:r>
              <a:rPr sz="1300" b="1">
                <a:solidFill>
                  <a:srgbClr val="5B8CFF"/>
                </a:solidFill>
                <a:latin typeface="Geist"/>
              </a:rPr>
              <a:t>Против API-подхода — </a:t>
            </a:r>
            <a:r>
              <a:rPr sz="1300" b="0">
                <a:solidFill>
                  <a:srgbClr val="8B98A5"/>
                </a:solidFill>
                <a:latin typeface="Geist"/>
              </a:rPr>
              <a:t>там «судить на каждом коммите» упирается в деньги; у нас — только в GPU-минуты, уже оплаченные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E6EDF3"/>
                </a:solidFill>
                <a:latin typeface="Geist"/>
              </a:rPr>
              <a:t>Trajectory-eval: мерить исход, не текст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70432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B98A5"/>
                </a:solidFill>
                <a:latin typeface="Geist"/>
              </a:rPr>
              <a:t>Приём CMU/SWE-bench: грейдер FAIL_TO_PASS смотрит на факт, а не на «красоту».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10528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8CFF"/>
                </a:solidFill>
                <a:latin typeface="JetBrains Mono"/>
              </a:rPr>
              <a:t>engineer-ai.pro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052560" y="6510528"/>
            <a:ext cx="2468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0">
                <a:solidFill>
                  <a:srgbClr val="5C6975"/>
                </a:solidFill>
                <a:latin typeface="Geist"/>
              </a:rPr>
              <a:t>AI Product Engineer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521440" y="6510528"/>
            <a:ext cx="502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C6975"/>
                </a:solidFill>
                <a:latin typeface="JetBrains Mono"/>
              </a:rPr>
              <a:t>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148840"/>
            <a:ext cx="2430018" cy="1234440"/>
          </a:xfrm>
          <a:prstGeom prst="roundRect">
            <a:avLst/>
          </a:prstGeom>
          <a:solidFill>
            <a:srgbClr val="121821"/>
          </a:solidFill>
          <a:ln w="12700">
            <a:solidFill>
              <a:srgbClr val="1F2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2276856"/>
            <a:ext cx="215569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5B8CFF"/>
                </a:solidFill>
                <a:latin typeface="Geist"/>
              </a:rPr>
              <a:t>Вход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624328"/>
            <a:ext cx="215569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>
                <a:solidFill>
                  <a:srgbClr val="8B98A5"/>
                </a:solidFill>
                <a:latin typeface="Geist"/>
              </a:rPr>
              <a:t>жалобы
недели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78658" y="2564892"/>
            <a:ext cx="4572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5C6975"/>
                </a:solidFill>
                <a:latin typeface="Geist"/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35858" y="2148840"/>
            <a:ext cx="2430018" cy="1234440"/>
          </a:xfrm>
          <a:prstGeom prst="roundRect">
            <a:avLst/>
          </a:prstGeom>
          <a:solidFill>
            <a:srgbClr val="121821"/>
          </a:solidFill>
          <a:ln w="12700">
            <a:solidFill>
              <a:srgbClr val="1F2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73018" y="2276856"/>
            <a:ext cx="215569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5B8CFF"/>
                </a:solidFill>
                <a:latin typeface="Geist"/>
              </a:rPr>
              <a:t>Агент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73018" y="2624328"/>
            <a:ext cx="215569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>
                <a:solidFill>
                  <a:srgbClr val="8B98A5"/>
                </a:solidFill>
                <a:latin typeface="Geist"/>
              </a:rPr>
              <a:t>3 действия
на понедельник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65876" y="2564892"/>
            <a:ext cx="4572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5C6975"/>
                </a:solidFill>
                <a:latin typeface="Geist"/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23076" y="2148840"/>
            <a:ext cx="2430018" cy="1234440"/>
          </a:xfrm>
          <a:prstGeom prst="roundRect">
            <a:avLst/>
          </a:prstGeom>
          <a:solidFill>
            <a:srgbClr val="121821"/>
          </a:solidFill>
          <a:ln w="12700">
            <a:solidFill>
              <a:srgbClr val="1F2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60236" y="2276856"/>
            <a:ext cx="215569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5B8CFF"/>
                </a:solidFill>
                <a:latin typeface="Geist"/>
              </a:rPr>
              <a:t>Outcome-грейдер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60236" y="2624328"/>
            <a:ext cx="215569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>
                <a:solidFill>
                  <a:srgbClr val="8B98A5"/>
                </a:solidFill>
                <a:latin typeface="Geist"/>
              </a:rPr>
              <a:t>адресовано
ли главной боли?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53094" y="2564892"/>
            <a:ext cx="4572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5C6975"/>
                </a:solidFill>
                <a:latin typeface="Geist"/>
              </a:rP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210294" y="2148840"/>
            <a:ext cx="2430018" cy="1234440"/>
          </a:xfrm>
          <a:prstGeom prst="roundRect">
            <a:avLst/>
          </a:prstGeom>
          <a:solidFill>
            <a:srgbClr val="121821"/>
          </a:solidFill>
          <a:ln w="12700">
            <a:solidFill>
              <a:srgbClr val="1F2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47454" y="2276856"/>
            <a:ext cx="215569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5B8CFF"/>
                </a:solidFill>
                <a:latin typeface="Geist"/>
              </a:rPr>
              <a:t>Вердикт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47454" y="2624328"/>
            <a:ext cx="215569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>
                <a:solidFill>
                  <a:srgbClr val="8B98A5"/>
                </a:solidFill>
                <a:latin typeface="Geist"/>
              </a:rPr>
              <a:t>PASS / FAIL
по факту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3794760"/>
            <a:ext cx="110642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B98A5"/>
                </a:solidFill>
                <a:latin typeface="Geist"/>
              </a:rPr>
              <a:t>Для кофейного агента «исход» = «хотя бы одно из 3 действий адресует доминирующую боль недели (очереди на кассе, ≥3 упоминания)». Это проверяемый факт про содержание, а не «звучит убедительно». В хендс-оне один кейс будет именно такой — outcome-грейдер.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E6EDF3"/>
                </a:solidFill>
                <a:latin typeface="Geist"/>
              </a:rPr>
              <a:t>Живое демо лектора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70432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B98A5"/>
                </a:solidFill>
                <a:latin typeface="Geist"/>
              </a:rPr>
              <a:t>Песочница — готовый examples/coffee-reviews-agent. Показываем точку «ага».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10528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8CFF"/>
                </a:solidFill>
                <a:latin typeface="JetBrains Mono"/>
              </a:rPr>
              <a:t>engineer-ai.pro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052560" y="6510528"/>
            <a:ext cx="2468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0">
                <a:solidFill>
                  <a:srgbClr val="5C6975"/>
                </a:solidFill>
                <a:latin typeface="Geist"/>
              </a:rPr>
              <a:t>AI Product Engineer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521440" y="6510528"/>
            <a:ext cx="502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C6975"/>
                </a:solidFill>
                <a:latin typeface="JetBrains Mono"/>
              </a:rPr>
              <a:t>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103120"/>
            <a:ext cx="2430018" cy="1234440"/>
          </a:xfrm>
          <a:prstGeom prst="roundRect">
            <a:avLst/>
          </a:prstGeom>
          <a:solidFill>
            <a:srgbClr val="121821"/>
          </a:solidFill>
          <a:ln w="12700">
            <a:solidFill>
              <a:srgbClr val="1F2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2231136"/>
            <a:ext cx="215569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5B8CFF"/>
                </a:solidFill>
                <a:latin typeface="Geist"/>
              </a:rPr>
              <a:t>agent.py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578608"/>
            <a:ext cx="215569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>
                <a:solidFill>
                  <a:srgbClr val="8B98A5"/>
                </a:solidFill>
                <a:latin typeface="Geist"/>
              </a:rPr>
              <a:t>auth→RAG→
DeepSeek→cost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78658" y="2519171"/>
            <a:ext cx="4572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5C6975"/>
                </a:solidFill>
                <a:latin typeface="Geist"/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35858" y="2103120"/>
            <a:ext cx="2430018" cy="1234440"/>
          </a:xfrm>
          <a:prstGeom prst="roundRect">
            <a:avLst/>
          </a:prstGeom>
          <a:solidFill>
            <a:srgbClr val="121821"/>
          </a:solidFill>
          <a:ln w="12700">
            <a:solidFill>
              <a:srgbClr val="1F2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73018" y="2231136"/>
            <a:ext cx="215569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5B8CFF"/>
                </a:solidFill>
                <a:latin typeface="Geist"/>
              </a:rPr>
              <a:t>run_eval
research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73018" y="2578608"/>
            <a:ext cx="215569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>
                <a:solidFill>
                  <a:srgbClr val="8B98A5"/>
                </a:solidFill>
                <a:latin typeface="Geist"/>
              </a:rPr>
              <a:t>судья на
DeepSeek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65876" y="2519171"/>
            <a:ext cx="4572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5C6975"/>
                </a:solidFill>
                <a:latin typeface="Geist"/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23076" y="2103120"/>
            <a:ext cx="2430018" cy="1234440"/>
          </a:xfrm>
          <a:prstGeom prst="roundRect">
            <a:avLst/>
          </a:prstGeom>
          <a:solidFill>
            <a:srgbClr val="121821"/>
          </a:solidFill>
          <a:ln w="12700">
            <a:solidFill>
              <a:srgbClr val="1F2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60236" y="2231136"/>
            <a:ext cx="215569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5B8CFF"/>
                </a:solidFill>
                <a:latin typeface="Geist"/>
              </a:rPr>
              <a:t>одна строка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60236" y="2578608"/>
            <a:ext cx="215569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>
                <a:solidFill>
                  <a:srgbClr val="8B98A5"/>
                </a:solidFill>
                <a:latin typeface="Geist"/>
              </a:rPr>
              <a:t>profile
research→code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53094" y="2519171"/>
            <a:ext cx="4572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5C6975"/>
                </a:solidFill>
                <a:latin typeface="Geist"/>
              </a:rP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210294" y="2103120"/>
            <a:ext cx="2430018" cy="1234440"/>
          </a:xfrm>
          <a:prstGeom prst="roundRect">
            <a:avLst/>
          </a:prstGeom>
          <a:solidFill>
            <a:srgbClr val="121821"/>
          </a:solidFill>
          <a:ln w="12700">
            <a:solidFill>
              <a:srgbClr val="1F2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47454" y="2231136"/>
            <a:ext cx="215569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5B8CFF"/>
                </a:solidFill>
                <a:latin typeface="Geist"/>
              </a:rPr>
              <a:t>run_eval
code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47454" y="2578608"/>
            <a:ext cx="215569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>
                <a:solidFill>
                  <a:srgbClr val="8B98A5"/>
                </a:solidFill>
                <a:latin typeface="Geist"/>
              </a:rPr>
              <a:t>судья на Qwen,
cost→0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3749039"/>
            <a:ext cx="11091672" cy="2103120"/>
          </a:xfrm>
          <a:prstGeom prst="roundRect">
            <a:avLst/>
          </a:prstGeom>
          <a:solidFill>
            <a:srgbClr val="121821"/>
          </a:solidFill>
          <a:ln w="12700">
            <a:solidFill>
              <a:srgbClr val="1F2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960" y="393192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5B8CFF"/>
                </a:solidFill>
                <a:latin typeface="JetBrains Mono"/>
              </a:rPr>
              <a:t>ВОПРОС ЗАЛУ ПЕРЕД СМЕНОЙ ПРОФИЛЯ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" y="443484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6EDF3"/>
                </a:solidFill>
                <a:latin typeface="Geist"/>
              </a:rPr>
              <a:t>«Сколько будет стоить гонять этот eval на каждом коммите месяц?» — и меняем ОДНУ строку (судью research→code). pass-rate тот же, стоимость судьи в журнале падает до нуля.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E6EDF3"/>
                </a:solidFill>
                <a:latin typeface="Geist"/>
              </a:rPr>
              <a:t>Состав eval-датасета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70432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B98A5"/>
                </a:solidFill>
                <a:latin typeface="Geist"/>
              </a:rPr>
              <a:t>JSONL, по строке на кейс. Это оценивается — нужны все 4 категории.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10528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8CFF"/>
                </a:solidFill>
                <a:latin typeface="JetBrains Mono"/>
              </a:rPr>
              <a:t>engineer-ai.pro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052560" y="6510528"/>
            <a:ext cx="2468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0">
                <a:solidFill>
                  <a:srgbClr val="5C6975"/>
                </a:solidFill>
                <a:latin typeface="Geist"/>
              </a:rPr>
              <a:t>AI Product Engineer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521440" y="6510528"/>
            <a:ext cx="502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C6975"/>
                </a:solidFill>
                <a:latin typeface="JetBrains Mono"/>
              </a:rPr>
              <a:t>9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965960"/>
          <a:ext cx="11091672" cy="27432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200400"/>
                <a:gridCol w="1371600"/>
                <a:gridCol w="6519672"/>
              </a:tblGrid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5B8CFF"/>
                          </a:solidFill>
                          <a:latin typeface="JetBrains Mono"/>
                        </a:rPr>
                        <a:t>Категория</a:t>
                      </a:r>
                    </a:p>
                  </a:txBody>
                  <a:tcPr anchor="ctr" marT="38100" marB="38100" marL="101600" marR="101600">
                    <a:solidFill>
                      <a:srgbClr val="1A222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5B8CFF"/>
                          </a:solidFill>
                          <a:latin typeface="JetBrains Mono"/>
                        </a:rPr>
                        <a:t>Сколько</a:t>
                      </a:r>
                    </a:p>
                  </a:txBody>
                  <a:tcPr anchor="ctr" marT="38100" marB="38100" marL="101600" marR="101600">
                    <a:solidFill>
                      <a:srgbClr val="1A222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5B8CFF"/>
                          </a:solidFill>
                          <a:latin typeface="JetBrains Mono"/>
                        </a:rPr>
                        <a:t>Что проверяет</a:t>
                      </a:r>
                    </a:p>
                  </a:txBody>
                  <a:tcPr anchor="ctr" marT="38100" marB="38100" marL="101600" marR="101600">
                    <a:solidFill>
                      <a:srgbClr val="1A222E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E6EDF3"/>
                          </a:solidFill>
                          <a:latin typeface="Geist"/>
                        </a:rPr>
                        <a:t>code (equals/contains)</a:t>
                      </a:r>
                    </a:p>
                  </a:txBody>
                  <a:tcPr anchor="ctr" marT="38100" marB="38100" marL="101600" marR="101600">
                    <a:solidFill>
                      <a:srgbClr val="12182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8B98A5"/>
                          </a:solidFill>
                          <a:latin typeface="Geist"/>
                        </a:rPr>
                        <a:t>≥3</a:t>
                      </a:r>
                    </a:p>
                  </a:txBody>
                  <a:tcPr anchor="ctr" marT="38100" marB="38100" marL="101600" marR="101600">
                    <a:solidFill>
                      <a:srgbClr val="12182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8B98A5"/>
                          </a:solidFill>
                          <a:latin typeface="Geist"/>
                        </a:rPr>
                        <a:t>валидный JSON, ровно 3 действия, нет запрещённых слов</a:t>
                      </a:r>
                    </a:p>
                  </a:txBody>
                  <a:tcPr anchor="ctr" marT="38100" marB="38100" marL="101600" marR="101600">
                    <a:solidFill>
                      <a:srgbClr val="121821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E6EDF3"/>
                          </a:solidFill>
                          <a:latin typeface="Geist"/>
                        </a:rPr>
                        <a:t>judge</a:t>
                      </a:r>
                    </a:p>
                  </a:txBody>
                  <a:tcPr anchor="ctr" marT="38100" marB="38100" marL="101600" marR="101600">
                    <a:solidFill>
                      <a:srgbClr val="0B0F1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8B98A5"/>
                          </a:solidFill>
                          <a:latin typeface="Geist"/>
                        </a:rPr>
                        <a:t>≥6</a:t>
                      </a:r>
                    </a:p>
                  </a:txBody>
                  <a:tcPr anchor="ctr" marT="38100" marB="38100" marL="101600" marR="101600">
                    <a:solidFill>
                      <a:srgbClr val="0B0F1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8B98A5"/>
                          </a:solidFill>
                          <a:latin typeface="Geist"/>
                        </a:rPr>
                        <a:t>адресована ли боль, выполнимость, тон для владельца</a:t>
                      </a:r>
                    </a:p>
                  </a:txBody>
                  <a:tcPr anchor="ctr" marT="38100" marB="38100" marL="101600" marR="101600">
                    <a:solidFill>
                      <a:srgbClr val="0B0F14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E6EDF3"/>
                          </a:solidFill>
                          <a:latin typeface="Geist"/>
                        </a:rPr>
                        <a:t>negative</a:t>
                      </a:r>
                    </a:p>
                  </a:txBody>
                  <a:tcPr anchor="ctr" marT="38100" marB="38100" marL="101600" marR="101600">
                    <a:solidFill>
                      <a:srgbClr val="12182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8B98A5"/>
                          </a:solidFill>
                          <a:latin typeface="Geist"/>
                        </a:rPr>
                        <a:t>≥2</a:t>
                      </a:r>
                    </a:p>
                  </a:txBody>
                  <a:tcPr anchor="ctr" marT="38100" marB="38100" marL="101600" marR="101600">
                    <a:solidFill>
                      <a:srgbClr val="12182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8B98A5"/>
                          </a:solidFill>
                          <a:latin typeface="Geist"/>
                        </a:rPr>
                        <a:t>агент НЕ выдумывает боль (парковка/доставка, которых нет)</a:t>
                      </a:r>
                    </a:p>
                  </a:txBody>
                  <a:tcPr anchor="ctr" marT="38100" marB="38100" marL="101600" marR="101600">
                    <a:solidFill>
                      <a:srgbClr val="121821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E6EDF3"/>
                          </a:solidFill>
                          <a:latin typeface="Geist"/>
                        </a:rPr>
                        <a:t>outcome (trajectory)</a:t>
                      </a:r>
                    </a:p>
                  </a:txBody>
                  <a:tcPr anchor="ctr" marT="38100" marB="38100" marL="101600" marR="101600">
                    <a:solidFill>
                      <a:srgbClr val="0B0F1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8B98A5"/>
                          </a:solidFill>
                          <a:latin typeface="Geist"/>
                        </a:rPr>
                        <a:t>≥1</a:t>
                      </a:r>
                    </a:p>
                  </a:txBody>
                  <a:tcPr anchor="ctr" marT="38100" marB="38100" marL="101600" marR="101600">
                    <a:solidFill>
                      <a:srgbClr val="0B0F1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8B98A5"/>
                          </a:solidFill>
                          <a:latin typeface="Geist"/>
                        </a:rPr>
                        <a:t>одно действие адресует «очереди на кассе»</a:t>
                      </a:r>
                    </a:p>
                  </a:txBody>
                  <a:tcPr anchor="ctr" marT="38100" marB="38100" marL="101600" marR="101600">
                    <a:solidFill>
                      <a:srgbClr val="0B0F14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48640" y="4892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E3B341"/>
                </a:solidFill>
                <a:latin typeface="Geist"/>
              </a:rPr>
              <a:t>Кейсы строим ПО ДАННЫМ (читаем sample_reviews.jsonl), не из головы. Черновик можно надиктовать в ape — но каждый expect проверяешь глазами.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E6EDF3"/>
                </a:solidFill>
                <a:latin typeface="Geist"/>
              </a:rPr>
              <a:t>Как это делать в ape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70432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B98A5"/>
                </a:solidFill>
                <a:latin typeface="Geist"/>
              </a:rPr>
              <a:t>Работаем через ape и run_eval.py. Профиль code → self-host Qwen, research → DeepSeek.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10528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8CFF"/>
                </a:solidFill>
                <a:latin typeface="JetBrains Mono"/>
              </a:rPr>
              <a:t>engineer-ai.pro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052560" y="6510528"/>
            <a:ext cx="2468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0">
                <a:solidFill>
                  <a:srgbClr val="5C6975"/>
                </a:solidFill>
                <a:latin typeface="Geist"/>
              </a:rPr>
              <a:t>AI Product Engineer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521440" y="6510528"/>
            <a:ext cx="502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C6975"/>
                </a:solidFill>
                <a:latin typeface="JetBrains Mono"/>
              </a:rPr>
              <a:t>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965960"/>
            <a:ext cx="5486400" cy="3977639"/>
          </a:xfrm>
          <a:prstGeom prst="roundRect">
            <a:avLst/>
          </a:prstGeom>
          <a:solidFill>
            <a:srgbClr val="0E141C"/>
          </a:solidFill>
          <a:ln w="12700">
            <a:solidFill>
              <a:srgbClr val="1F2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2" y="214884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5B8CFF"/>
                </a:solidFill>
                <a:latin typeface="JetBrains Mono"/>
              </a:rPr>
              <a:t>Собрать датасет-черновик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" y="2569464"/>
            <a:ext cx="4983480" cy="32003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E6EDF3"/>
                </a:solidFill>
                <a:latin typeface="JetBrains Mono"/>
              </a:rPr>
              <a:t>/code по @.../sample_reviews.jsonl и</a:t>
            </a:r>
          </a:p>
          <a:p>
            <a:pPr>
              <a:spcAft>
                <a:spcPts val="600"/>
              </a:spcAft>
            </a:pPr>
            <a:r>
              <a:rPr sz="1050" b="0">
                <a:solidFill>
                  <a:srgbClr val="8B98A5"/>
                </a:solidFill>
                <a:latin typeface="JetBrains Mono"/>
              </a:rPr>
              <a:t>  @.../agent.py сгенерируй 12 строк</a:t>
            </a:r>
          </a:p>
          <a:p>
            <a:pPr>
              <a:spcAft>
                <a:spcPts val="600"/>
              </a:spcAft>
            </a:pPr>
            <a:r>
              <a:rPr sz="1050" b="0">
                <a:solidFill>
                  <a:srgbClr val="8B98A5"/>
                </a:solidFill>
                <a:latin typeface="JetBrains Mono"/>
              </a:rPr>
              <a:t>  JSONL: 3 code, 6 judge, 2 негатива,</a:t>
            </a:r>
          </a:p>
          <a:p>
            <a:pPr>
              <a:spcAft>
                <a:spcPts val="600"/>
              </a:spcAft>
            </a:pPr>
            <a:r>
              <a:rPr sz="1050" b="0">
                <a:solidFill>
                  <a:srgbClr val="8B98A5"/>
                </a:solidFill>
                <a:latin typeface="JetBrains Mono"/>
              </a:rPr>
              <a:t>  1 outcome про очереди. только JSONL</a:t>
            </a:r>
          </a:p>
          <a:p>
            <a:pPr>
              <a:spcAft>
                <a:spcPts val="600"/>
              </a:spcAft>
            </a:pPr>
            <a:r>
              <a:rPr sz="1050" b="0">
                <a:solidFill>
                  <a:srgbClr val="8B98A5"/>
                </a:solidFill>
                <a:latin typeface="JetBrains Mono"/>
              </a:rPr>
              <a:t/>
            </a:r>
          </a:p>
          <a:p>
            <a:pPr>
              <a:spcAft>
                <a:spcPts val="600"/>
              </a:spcAft>
            </a:pPr>
            <a:r>
              <a:rPr sz="1050" b="0">
                <a:solidFill>
                  <a:srgbClr val="5C6975"/>
                </a:solidFill>
                <a:latin typeface="JetBrains Mono"/>
              </a:rPr>
              <a:t># черновик! каждый expect/criterion</a:t>
            </a:r>
          </a:p>
          <a:p>
            <a:pPr>
              <a:spcAft>
                <a:spcPts val="600"/>
              </a:spcAft>
            </a:pPr>
            <a:r>
              <a:rPr sz="1050" b="0">
                <a:solidFill>
                  <a:srgbClr val="5C6975"/>
                </a:solidFill>
                <a:latin typeface="JetBrains Mono"/>
              </a:rPr>
              <a:t># сверяем с реальными отзывами</a:t>
            </a:r>
          </a:p>
          <a:p>
            <a:pPr>
              <a:spcAft>
                <a:spcPts val="600"/>
              </a:spcAft>
            </a:pPr>
            <a:r>
              <a:rPr sz="1050" b="0">
                <a:solidFill>
                  <a:srgbClr val="8B98A5"/>
                </a:solidFill>
                <a:latin typeface="JetBrains Mono"/>
              </a:rPr>
              <a:t/>
            </a:r>
          </a:p>
          <a:p>
            <a:pPr>
              <a:spcAft>
                <a:spcPts val="600"/>
              </a:spcAft>
            </a:pPr>
            <a:r>
              <a:rPr sz="1050" b="0">
                <a:solidFill>
                  <a:srgbClr val="8B98A5"/>
                </a:solidFill>
                <a:latin typeface="JetBrains Mono"/>
              </a:rPr>
              <a:t>wc -l eval/coffee.jsonl   # &gt;= 12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53912" y="1965960"/>
            <a:ext cx="5486400" cy="3977639"/>
          </a:xfrm>
          <a:prstGeom prst="roundRect">
            <a:avLst/>
          </a:prstGeom>
          <a:solidFill>
            <a:srgbClr val="0E141C"/>
          </a:solidFill>
          <a:ln w="12700">
            <a:solidFill>
              <a:srgbClr val="1F2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9944" y="214884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5B8CFF"/>
                </a:solidFill>
                <a:latin typeface="JetBrains Mono"/>
              </a:rPr>
              <a:t>Перевести судью на Qwen ★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9944" y="2569464"/>
            <a:ext cx="4983480" cy="32003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5C6975"/>
                </a:solidFill>
                <a:latin typeface="JetBrains Mono"/>
              </a:rPr>
              <a:t># eval/run_eval.py, функция grade,</a:t>
            </a:r>
          </a:p>
          <a:p>
            <a:pPr>
              <a:spcAft>
                <a:spcPts val="600"/>
              </a:spcAft>
            </a:pPr>
            <a:r>
              <a:rPr sz="1050" b="0">
                <a:solidFill>
                  <a:srgbClr val="5C6975"/>
                </a:solidFill>
                <a:latin typeface="JetBrains Mono"/>
              </a:rPr>
              <a:t># ветка judge (~строка 49):</a:t>
            </a:r>
          </a:p>
          <a:p>
            <a:pPr>
              <a:spcAft>
                <a:spcPts val="600"/>
              </a:spcAft>
            </a:pPr>
            <a:r>
              <a:rPr sz="1050" b="0">
                <a:solidFill>
                  <a:srgbClr val="8B98A5"/>
                </a:solidFill>
                <a:latin typeface="JetBrains Mono"/>
              </a:rPr>
              <a:t/>
            </a:r>
          </a:p>
          <a:p>
            <a:pPr>
              <a:spcAft>
                <a:spcPts val="600"/>
              </a:spcAft>
            </a:pPr>
            <a:r>
              <a:rPr sz="1050" b="0">
                <a:solidFill>
                  <a:srgbClr val="8B98A5"/>
                </a:solidFill>
                <a:latin typeface="JetBrains Mono"/>
              </a:rPr>
              <a:t>- profile="research"   # DeepSeek</a:t>
            </a:r>
          </a:p>
          <a:p>
            <a:pPr>
              <a:spcAft>
                <a:spcPts val="600"/>
              </a:spcAft>
            </a:pPr>
            <a:r>
              <a:rPr sz="1050" b="0">
                <a:solidFill>
                  <a:srgbClr val="8B98A5"/>
                </a:solidFill>
                <a:latin typeface="JetBrains Mono"/>
              </a:rPr>
              <a:t>+ profile="code"       # self-host Qwen</a:t>
            </a:r>
          </a:p>
          <a:p>
            <a:pPr>
              <a:spcAft>
                <a:spcPts val="600"/>
              </a:spcAft>
            </a:pPr>
            <a:r>
              <a:rPr sz="1050" b="0">
                <a:solidFill>
                  <a:srgbClr val="8B98A5"/>
                </a:solidFill>
                <a:latin typeface="JetBrains Mono"/>
              </a:rPr>
              <a:t/>
            </a:r>
          </a:p>
          <a:p>
            <a:pPr>
              <a:spcAft>
                <a:spcPts val="600"/>
              </a:spcAft>
            </a:pPr>
            <a:r>
              <a:rPr sz="1050" b="0">
                <a:solidFill>
                  <a:srgbClr val="8B98A5"/>
                </a:solidFill>
                <a:latin typeface="JetBrains Mono"/>
              </a:rPr>
              <a:t>python eval/run_eval.py \</a:t>
            </a:r>
          </a:p>
          <a:p>
            <a:pPr>
              <a:spcAft>
                <a:spcPts val="600"/>
              </a:spcAft>
            </a:pPr>
            <a:r>
              <a:rPr sz="1050" b="0">
                <a:solidFill>
                  <a:srgbClr val="8B98A5"/>
                </a:solidFill>
                <a:latin typeface="JetBrains Mono"/>
              </a:rPr>
              <a:t>  eval/coffee.jsonl --profile research</a:t>
            </a:r>
          </a:p>
          <a:p>
            <a:pPr>
              <a:spcAft>
                <a:spcPts val="600"/>
              </a:spcAft>
            </a:pPr>
            <a:r>
              <a:rPr sz="1050" b="0">
                <a:solidFill>
                  <a:srgbClr val="8B98A5"/>
                </a:solidFill>
                <a:latin typeface="JetBrains Mono"/>
              </a:rPr>
              <a:t/>
            </a:r>
          </a:p>
          <a:p>
            <a:pPr>
              <a:spcAft>
                <a:spcPts val="600"/>
              </a:spcAft>
            </a:pPr>
            <a:r>
              <a:rPr sz="1050" b="0">
                <a:solidFill>
                  <a:srgbClr val="5C6975"/>
                </a:solidFill>
                <a:latin typeface="JetBrains Mono"/>
              </a:rPr>
              <a:t># сравни pass-rate и стоимость судьи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E6EDF3"/>
                </a:solidFill>
                <a:latin typeface="Geist"/>
              </a:rPr>
              <a:t>Ядро пары: DeepSeek vs Qwen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70432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B98A5"/>
                </a:solidFill>
                <a:latin typeface="Geist"/>
              </a:rPr>
              <a:t>Заполняем табличку сами — это точка «ага» всей лекции.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10528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8CFF"/>
                </a:solidFill>
                <a:latin typeface="JetBrains Mono"/>
              </a:rPr>
              <a:t>engineer-ai.pro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052560" y="6510528"/>
            <a:ext cx="2468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0">
                <a:solidFill>
                  <a:srgbClr val="5C6975"/>
                </a:solidFill>
                <a:latin typeface="Geist"/>
              </a:rPr>
              <a:t>AI Product Engineer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521440" y="6510528"/>
            <a:ext cx="502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C6975"/>
                </a:solidFill>
                <a:latin typeface="JetBrains Mono"/>
              </a:rPr>
              <a:t>11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2011680"/>
          <a:ext cx="11091672" cy="21945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108960"/>
                <a:gridCol w="3986784"/>
                <a:gridCol w="3995928"/>
              </a:tblGrid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5B8CFF"/>
                          </a:solidFill>
                          <a:latin typeface="JetBrains Mono"/>
                        </a:rPr>
                        <a:t/>
                      </a:r>
                    </a:p>
                  </a:txBody>
                  <a:tcPr anchor="ctr" marT="38100" marB="38100" marL="101600" marR="101600">
                    <a:solidFill>
                      <a:srgbClr val="1A222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E3B341"/>
                          </a:solidFill>
                          <a:latin typeface="JetBrains Mono"/>
                        </a:rPr>
                        <a:t>Судья DeepSeek (research)</a:t>
                      </a:r>
                    </a:p>
                  </a:txBody>
                  <a:tcPr anchor="ctr" marT="38100" marB="38100" marL="101600" marR="101600">
                    <a:solidFill>
                      <a:srgbClr val="1A222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3FB950"/>
                          </a:solidFill>
                          <a:latin typeface="JetBrains Mono"/>
                        </a:rPr>
                        <a:t>Судья Qwen self-host (code)</a:t>
                      </a:r>
                    </a:p>
                  </a:txBody>
                  <a:tcPr anchor="ctr" marT="38100" marB="38100" marL="101600" marR="101600">
                    <a:solidFill>
                      <a:srgbClr val="1A222E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E6EDF3"/>
                          </a:solidFill>
                          <a:latin typeface="Geist"/>
                        </a:rPr>
                        <a:t>pass-rate</a:t>
                      </a:r>
                    </a:p>
                  </a:txBody>
                  <a:tcPr anchor="ctr" marT="38100" marB="38100" marL="101600" marR="101600">
                    <a:solidFill>
                      <a:srgbClr val="12182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8B98A5"/>
                          </a:solidFill>
                          <a:latin typeface="Geist"/>
                        </a:rPr>
                        <a:t>___</a:t>
                      </a:r>
                    </a:p>
                  </a:txBody>
                  <a:tcPr anchor="ctr" marT="38100" marB="38100" marL="101600" marR="101600">
                    <a:solidFill>
                      <a:srgbClr val="12182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8B98A5"/>
                          </a:solidFill>
                          <a:latin typeface="Geist"/>
                        </a:rPr>
                        <a:t>___</a:t>
                      </a:r>
                    </a:p>
                  </a:txBody>
                  <a:tcPr anchor="ctr" marT="38100" marB="38100" marL="101600" marR="101600">
                    <a:solidFill>
                      <a:srgbClr val="121821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E6EDF3"/>
                          </a:solidFill>
                          <a:latin typeface="Geist"/>
                        </a:rPr>
                        <a:t>стоимость судьи / прогон</a:t>
                      </a:r>
                    </a:p>
                  </a:txBody>
                  <a:tcPr anchor="ctr" marT="38100" marB="38100" marL="101600" marR="101600">
                    <a:solidFill>
                      <a:srgbClr val="0B0F1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8B98A5"/>
                          </a:solidFill>
                          <a:latin typeface="Geist"/>
                        </a:rPr>
                        <a:t>по прайсу (₽)</a:t>
                      </a:r>
                    </a:p>
                  </a:txBody>
                  <a:tcPr anchor="ctr" marT="38100" marB="38100" marL="101600" marR="101600">
                    <a:solidFill>
                      <a:srgbClr val="0B0F1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8B98A5"/>
                          </a:solidFill>
                          <a:latin typeface="Geist"/>
                        </a:rPr>
                        <a:t>≈ 0 ₽</a:t>
                      </a:r>
                    </a:p>
                  </a:txBody>
                  <a:tcPr anchor="ctr" marT="38100" marB="38100" marL="101600" marR="101600">
                    <a:solidFill>
                      <a:srgbClr val="0B0F14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E6EDF3"/>
                          </a:solidFill>
                          <a:latin typeface="Geist"/>
                        </a:rPr>
                        <a:t>совпало вердиктов</a:t>
                      </a:r>
                    </a:p>
                  </a:txBody>
                  <a:tcPr anchor="ctr" marT="38100" marB="38100" marL="101600" marR="101600">
                    <a:solidFill>
                      <a:srgbClr val="12182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8B98A5"/>
                          </a:solidFill>
                          <a:latin typeface="Geist"/>
                        </a:rPr>
                        <a:t>100% (baseline)</a:t>
                      </a:r>
                    </a:p>
                  </a:txBody>
                  <a:tcPr anchor="ctr" marT="38100" marB="38100" marL="101600" marR="101600">
                    <a:solidFill>
                      <a:srgbClr val="12182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8B98A5"/>
                          </a:solidFill>
                          <a:latin typeface="Geist"/>
                        </a:rPr>
                        <a:t>___ / 12</a:t>
                      </a:r>
                    </a:p>
                  </a:txBody>
                  <a:tcPr anchor="ctr" marT="38100" marB="38100" marL="101600" marR="101600">
                    <a:solidFill>
                      <a:srgbClr val="121821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548640" y="4434840"/>
            <a:ext cx="11091672" cy="1463040"/>
          </a:xfrm>
          <a:prstGeom prst="roundRect">
            <a:avLst/>
          </a:prstGeom>
          <a:solidFill>
            <a:srgbClr val="121821"/>
          </a:solidFill>
          <a:ln w="12700">
            <a:solidFill>
              <a:srgbClr val="1F2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461772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5B8CFF"/>
                </a:solidFill>
                <a:latin typeface="JetBrains Mono"/>
              </a:rPr>
              <a:t>РЕФЛЕКСИЯ (ЗАПИШИ 2 СТРОКАМИ)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507492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E6EDF3"/>
                </a:solidFill>
                <a:latin typeface="Geist"/>
              </a:rPr>
              <a:t>Если судья бесплатный — что теперь можно, чего нельзя было с платным? (на каждый коммит · majority-vote · приватно)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E6EDF3"/>
                </a:solidFill>
                <a:latin typeface="Geist"/>
              </a:rPr>
              <a:t>Калибровка · A/B · ADR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70432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B98A5"/>
                </a:solidFill>
                <a:latin typeface="Geist"/>
              </a:rPr>
              <a:t>Судью нельзя принимать на веру — сверяем с человеком, затем сравниваем промпты.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10528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8CFF"/>
                </a:solidFill>
                <a:latin typeface="JetBrains Mono"/>
              </a:rPr>
              <a:t>engineer-ai.pro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052560" y="6510528"/>
            <a:ext cx="2468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0">
                <a:solidFill>
                  <a:srgbClr val="5C6975"/>
                </a:solidFill>
                <a:latin typeface="Geist"/>
              </a:rPr>
              <a:t>AI Product Engineer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521440" y="6510528"/>
            <a:ext cx="502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C6975"/>
                </a:solidFill>
                <a:latin typeface="JetBrains Mono"/>
              </a:rPr>
              <a:t>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011680"/>
            <a:ext cx="3566160" cy="3383280"/>
          </a:xfrm>
          <a:prstGeom prst="roundRect">
            <a:avLst/>
          </a:prstGeom>
          <a:solidFill>
            <a:srgbClr val="121821"/>
          </a:solidFill>
          <a:ln w="12700">
            <a:solidFill>
              <a:srgbClr val="1F2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2" y="228600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5B8CFF"/>
                </a:solidFill>
                <a:latin typeface="Geist"/>
              </a:rPr>
              <a:t>Калибровка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" y="2971800"/>
            <a:ext cx="31089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B98A5"/>
                </a:solidFill>
                <a:latin typeface="Geist"/>
              </a:rPr>
              <a:t>5 кейсов размечаешь сам (human), сверяешь с Qwen-судьёй. agreement = совпадения/5. &lt;0.8 → чини criterion.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15968" y="2011680"/>
            <a:ext cx="3566160" cy="3383280"/>
          </a:xfrm>
          <a:prstGeom prst="roundRect">
            <a:avLst/>
          </a:prstGeom>
          <a:solidFill>
            <a:srgbClr val="121821"/>
          </a:solidFill>
          <a:ln w="12700">
            <a:solidFill>
              <a:srgbClr val="1F2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0" y="228600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5B8CFF"/>
                </a:solidFill>
                <a:latin typeface="Geist"/>
              </a:rPr>
              <a:t>A/B промптов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2971800"/>
            <a:ext cx="31089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B98A5"/>
                </a:solidFill>
                <a:latin typeface="Geist"/>
              </a:rPr>
              <a:t>coffee-v1 vs coffee-v2 (напр. «≤12 слов, с глагола») на одном датасете, тем же судьёй. Метрика до/после.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83296" y="2011680"/>
            <a:ext cx="3566160" cy="3383280"/>
          </a:xfrm>
          <a:prstGeom prst="roundRect">
            <a:avLst/>
          </a:prstGeom>
          <a:solidFill>
            <a:srgbClr val="121821"/>
          </a:solidFill>
          <a:ln w="12700">
            <a:solidFill>
              <a:srgbClr val="1F2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39327" y="228600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3FB950"/>
                </a:solidFill>
                <a:latin typeface="Geist"/>
              </a:rPr>
              <a:t>Мини-ADR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39327" y="2971800"/>
            <a:ext cx="31089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B98A5"/>
                </a:solidFill>
                <a:latin typeface="Geist"/>
              </a:rPr>
              <a:t>судья = Qwen; версия промпта; цифры v1/v2, agreement, стоимость≈0; последствия (eval в CI).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E6EDF3"/>
                </a:solidFill>
                <a:latin typeface="Geist"/>
              </a:rPr>
              <a:t>DoD пары, домашка и мост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10528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8CFF"/>
                </a:solidFill>
                <a:latin typeface="JetBrains Mono"/>
              </a:rPr>
              <a:t>engineer-ai.pro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52560" y="6510528"/>
            <a:ext cx="2468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0">
                <a:solidFill>
                  <a:srgbClr val="5C6975"/>
                </a:solidFill>
                <a:latin typeface="Geist"/>
              </a:rPr>
              <a:t>AI Product Engineer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521440" y="6510528"/>
            <a:ext cx="502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C6975"/>
                </a:solidFill>
                <a:latin typeface="JetBrains Mono"/>
              </a:rPr>
              <a:t>13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920240"/>
            <a:ext cx="11091672" cy="1737360"/>
          </a:xfrm>
          <a:prstGeom prst="roundRect">
            <a:avLst/>
          </a:prstGeom>
          <a:solidFill>
            <a:srgbClr val="121821"/>
          </a:solidFill>
          <a:ln w="12700">
            <a:solidFill>
              <a:srgbClr val="1F2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10312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5B8CFF"/>
                </a:solidFill>
                <a:latin typeface="JetBrains Mono"/>
              </a:rPr>
              <a:t>DEFINITION OF DONE ПАРЫ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560320"/>
            <a:ext cx="1051560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1">
                <a:solidFill>
                  <a:srgbClr val="5B8CFF"/>
                </a:solidFill>
                <a:latin typeface="JetBrains Mono"/>
              </a:rPr>
              <a:t>› </a:t>
            </a:r>
            <a:r>
              <a:rPr sz="1200" b="0">
                <a:solidFill>
                  <a:srgbClr val="E6EDF3"/>
                </a:solidFill>
                <a:latin typeface="Geist"/>
              </a:rPr>
              <a:t>eval/coffee.jsonl (≥12 кейсов, 4 категории) + eval/run_eval.py с судьёй на code</a:t>
            </a:r>
          </a:p>
          <a:p>
            <a:pPr>
              <a:spcAft>
                <a:spcPts val="800"/>
              </a:spcAft>
            </a:pPr>
            <a:r>
              <a:rPr sz="1250" b="1">
                <a:solidFill>
                  <a:srgbClr val="5B8CFF"/>
                </a:solidFill>
                <a:latin typeface="JetBrains Mono"/>
              </a:rPr>
              <a:t>› </a:t>
            </a:r>
            <a:r>
              <a:rPr sz="1200" b="0">
                <a:solidFill>
                  <a:srgbClr val="E6EDF3"/>
                </a:solidFill>
                <a:latin typeface="Geist"/>
              </a:rPr>
              <a:t>два pass-rate (DeepSeek vs Qwen) с их стоимостью + docs/adr/ADR-eval-judge.md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3886200"/>
            <a:ext cx="11091672" cy="1965960"/>
          </a:xfrm>
          <a:prstGeom prst="roundRect">
            <a:avLst/>
          </a:prstGeom>
          <a:solidFill>
            <a:srgbClr val="121821"/>
          </a:solidFill>
          <a:ln w="12700">
            <a:solidFill>
              <a:srgbClr val="5B8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41148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5B8CFF"/>
                </a:solidFill>
                <a:latin typeface="Geist"/>
              </a:rPr>
              <a:t>Домашка → мост к неделе 11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709160"/>
            <a:ext cx="10515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E6EDF3"/>
                </a:solidFill>
                <a:latin typeface="Geist"/>
              </a:rPr>
              <a:t>Перенеси навык на СВОЮ идею: eval-набор на 10 кейсов (вход→ожидание), тип грейдера по каждому, судья на профиле code. На неделе 11 применишь тот же инструмент к работающему MVP + RAG-метрики (Recall@K, faithfulness).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