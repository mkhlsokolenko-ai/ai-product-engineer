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88920"/>
            <a:ext cx="109728" cy="1554480"/>
          </a:xfrm>
          <a:prstGeom prst="round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8CFF"/>
                </a:solidFill>
                <a:latin typeface="JetBrains Mono"/>
              </a:rPr>
              <a:t>НЕДЕЛЯ 3 · БЛОК 1 ·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6EDF3"/>
                </a:solidFill>
                <a:latin typeface="Geist"/>
              </a:rPr>
              <a:t>AI-native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343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B98A5"/>
                </a:solidFill>
                <a:latin typeface="Geist"/>
              </a:rPr>
              <a:t>Используем AI, чтобы исследовать быстрее — но не попасть в эхо-камеру. Симуляция как тренажёр, живое интервью как истина.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126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126480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975"/>
                </a:solidFill>
                <a:latin typeface="JetBrains Mono"/>
              </a:rPr>
              <a:t>w3l1 · 15.09.2026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Что унесёте с пары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3 способа AI в discovery — </a:t>
            </a:r>
            <a:r>
              <a:rPr sz="1300" b="0">
                <a:solidFill>
                  <a:srgbClr val="8B98A5"/>
                </a:solidFill>
                <a:latin typeface="Geist"/>
              </a:rPr>
              <a:t>симулированные интервью, конкурентный анализ, desk research</a:t>
            </a:r>
          </a:p>
          <a:p>
            <a:pPr>
              <a:spcAft>
                <a:spcPts val="1200"/>
              </a:spcAft>
            </a:pPr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Триада Осадчего — </a:t>
            </a:r>
            <a:r>
              <a:rPr sz="1300" b="0">
                <a:solidFill>
                  <a:srgbClr val="8B98A5"/>
                </a:solidFill>
                <a:latin typeface="Geist"/>
              </a:rPr>
              <a:t>double-check · ревью · понимай, что делаешь</a:t>
            </a:r>
          </a:p>
          <a:p>
            <a:pPr>
              <a:spcAft>
                <a:spcPts val="1200"/>
              </a:spcAft>
            </a:pPr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Эхо-камера — </a:t>
            </a:r>
            <a:r>
              <a:rPr sz="1300" b="0">
                <a:solidFill>
                  <a:srgbClr val="8B98A5"/>
                </a:solidFill>
                <a:latin typeface="Geist"/>
              </a:rPr>
              <a:t>почему LLM поддакивает и как это ловить</a:t>
            </a:r>
          </a:p>
          <a:p>
            <a:pPr>
              <a:spcAft>
                <a:spcPts val="1200"/>
              </a:spcAft>
            </a:pPr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Адвокат дьявола — </a:t>
            </a:r>
            <a:r>
              <a:rPr sz="1300" b="0">
                <a:solidFill>
                  <a:srgbClr val="8B98A5"/>
                </a:solidFill>
                <a:latin typeface="Geist"/>
              </a:rPr>
              <a:t>hard prompts, которые заставляют модель спорить, а не хвалить</a:t>
            </a:r>
          </a:p>
          <a:p>
            <a:pPr>
              <a:spcAft>
                <a:spcPts val="1200"/>
              </a:spcAft>
            </a:pPr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Симуляция vs живое — </a:t>
            </a:r>
            <a:r>
              <a:rPr sz="1300" b="0">
                <a:solidFill>
                  <a:srgbClr val="8B98A5"/>
                </a:solidFill>
                <a:latin typeface="Geist"/>
              </a:rPr>
              <a:t>где симуляция помогает, а где обязателен живой человек</a:t>
            </a:r>
          </a:p>
          <a:p>
            <a:pPr>
              <a:spcAft>
                <a:spcPts val="1200"/>
              </a:spcAft>
            </a:pPr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Cost-журнал — </a:t>
            </a:r>
            <a:r>
              <a:rPr sz="1300" b="0">
                <a:solidFill>
                  <a:srgbClr val="8B98A5"/>
                </a:solidFill>
                <a:latin typeface="Geist"/>
              </a:rPr>
              <a:t>первая запись: токены и ₽ за discovery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3 способа применить AI в 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Не заменяют исследование, а ускоряют его подготовку.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3566160" cy="320040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2860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B8CFF"/>
                </a:solidFill>
                <a:latin typeface="Geist"/>
              </a:rPr>
              <a:t>Симулированные интервью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2461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8A5"/>
                </a:solidFill>
                <a:latin typeface="Geist"/>
              </a:rPr>
              <a:t>Модель играет представителя ICP. Обкатать гайд, найти нерабочие вопросы.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2011680"/>
            <a:ext cx="3566160" cy="320040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2860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B8CFF"/>
                </a:solidFill>
                <a:latin typeface="Geist"/>
              </a:rPr>
              <a:t>Конкурентный анализ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2461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8A5"/>
                </a:solidFill>
                <a:latin typeface="Geist"/>
              </a:rPr>
              <a:t>Reverse JTBD конкурентов, поиск аналогов, разбор их позиционирования.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2011680"/>
            <a:ext cx="3566160" cy="320040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7" y="22860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B8CFF"/>
                </a:solidFill>
                <a:latin typeface="Geist"/>
              </a:rPr>
              <a:t>Desk research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7" y="32461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8A5"/>
                </a:solidFill>
                <a:latin typeface="Geist"/>
              </a:rPr>
              <a:t>Рынок, данные, регуляторика — через скилл глубинного исследования с цитатами.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975"/>
                </a:solidFill>
                <a:latin typeface="Geist"/>
              </a:rPr>
              <a:t>Общее правило: результат AI-discovery — это ГИПОТЕЗЫ для проверки на живых людях, а не выводы.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Триада Осадчего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Три привычки, без которых AI-discovery превращается в самообман.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3392424" cy="12801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22576"/>
            <a:ext cx="3118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Double-check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70048"/>
            <a:ext cx="3118104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перепроверяй
факты у источника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41064" y="2633471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6975"/>
                </a:solidFill>
                <a:latin typeface="Geist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2194560"/>
            <a:ext cx="3392424" cy="12801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2322576"/>
            <a:ext cx="3118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Ревью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2670048"/>
            <a:ext cx="3118104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смотри глазами,
не принимай на веру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0688" y="2633471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6975"/>
                </a:solidFill>
                <a:latin typeface="Geist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47888" y="2194560"/>
            <a:ext cx="3392424" cy="12801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2322576"/>
            <a:ext cx="3118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Понимай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2670048"/>
            <a:ext cx="3118104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знай, что и зачем
делает модель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93192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8B98A5"/>
                </a:solidFill>
                <a:latin typeface="Geist"/>
              </a:rPr>
              <a:t>LLM уверенно выдаёт правдоподобное. Уверенность модели ≠ истинность. Триада — это дисциплина не доверять ответу только потому, что он гладкий.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Эхо-камера: главная ловушка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Модель подстраивается под ваш вопрос и возвращает то, что вы хотите услышать.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5431536" cy="35661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167128"/>
            <a:ext cx="4974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3FB950"/>
                </a:solidFill>
                <a:latin typeface="JetBrains Mono"/>
              </a:rPr>
              <a:t>✓ ПРИЗНАКИ, ЧТО ВАС ХВАЛЯТ ЗРЯ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715768"/>
            <a:ext cx="492861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Модель соглашается со всем, что вы предлагаете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Ответы полны «отличная идея», «большой потенциал»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Нет ни одного «а вот здесь не сработает»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Симулированный «пользователь» слишком удобный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1965960"/>
            <a:ext cx="5431536" cy="35661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8" y="2167128"/>
            <a:ext cx="4974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4D4F"/>
                </a:solidFill>
                <a:latin typeface="JetBrains Mono"/>
              </a:rPr>
              <a:t>✗ ЧЕМ ЭТО ОПАСНО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8" y="2715768"/>
            <a:ext cx="492861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Вы утверждаетесь в слабой идее и теряете недели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Реальный человек на КТ1 разносит то, что LLM хвалил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Пропускаете риск, который виден со стороны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Cost растёт, а знаний — нет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Как выбить эхо-камеру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Заставляем модель спорить. Скилл devils-advocate — hard prompt.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5486400" cy="3977639"/>
          </a:xfrm>
          <a:prstGeom prst="roundRect">
            <a:avLst/>
          </a:prstGeom>
          <a:solidFill>
            <a:srgbClr val="0E141C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148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devils-advocate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569464"/>
            <a:ext cx="4983480" cy="32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6EDF3"/>
                </a:solidFill>
                <a:latin typeface="JetBrains Mono"/>
              </a:rPr>
              <a:t>ape ask "ты VC, отказавший 100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>  стартапам с похожей идеей.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>  запрещены слова: great, amazing,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>  interesting, потенциал.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>  если идея слабая — скажи прямо,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>  каждое утверждение с аргументом.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>  идея: &lt;моя идея&gt;"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/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5C6975"/>
                </a:solidFill>
                <a:latin typeface="JetBrains Mono"/>
              </a:rPr>
              <a:t># модель обязана атаковать, а не льстить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965960"/>
            <a:ext cx="5486400" cy="3977639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21945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ПОЧЕМУ HARD PROMPT РАБОТАЕТ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697480"/>
            <a:ext cx="5029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1">
                <a:solidFill>
                  <a:srgbClr val="5B8CFF"/>
                </a:solidFill>
                <a:latin typeface="Geist"/>
              </a:rPr>
              <a:t>Роль-оппонент — </a:t>
            </a:r>
            <a:r>
              <a:rPr sz="1200" b="0">
                <a:solidFill>
                  <a:srgbClr val="8B98A5"/>
                </a:solidFill>
                <a:latin typeface="Geist"/>
              </a:rPr>
              <a:t>«ты VC, который отказал» задаёт критический настрой</a:t>
            </a:r>
          </a:p>
          <a:p>
            <a:pPr>
              <a:spcAft>
                <a:spcPts val="1100"/>
              </a:spcAft>
            </a:pPr>
            <a:r>
              <a:rPr sz="12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1">
                <a:solidFill>
                  <a:srgbClr val="5B8CFF"/>
                </a:solidFill>
                <a:latin typeface="Geist"/>
              </a:rPr>
              <a:t>Запрет слов — </a:t>
            </a:r>
            <a:r>
              <a:rPr sz="1200" b="0">
                <a:solidFill>
                  <a:srgbClr val="8B98A5"/>
                </a:solidFill>
                <a:latin typeface="Geist"/>
              </a:rPr>
              <a:t>убирает дежурную похвалу — модели некуда деться</a:t>
            </a:r>
          </a:p>
          <a:p>
            <a:pPr>
              <a:spcAft>
                <a:spcPts val="1100"/>
              </a:spcAft>
            </a:pPr>
            <a:r>
              <a:rPr sz="12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1">
                <a:solidFill>
                  <a:srgbClr val="5B8CFF"/>
                </a:solidFill>
                <a:latin typeface="Geist"/>
              </a:rPr>
              <a:t>Требование аргумента — </a:t>
            </a:r>
            <a:r>
              <a:rPr sz="1200" b="0">
                <a:solidFill>
                  <a:srgbClr val="8B98A5"/>
                </a:solidFill>
                <a:latin typeface="Geist"/>
              </a:rPr>
              <a:t>«каждое утверждение подкрепи» гасит воду</a:t>
            </a:r>
          </a:p>
          <a:p>
            <a:pPr>
              <a:spcAft>
                <a:spcPts val="1100"/>
              </a:spcAft>
            </a:pPr>
            <a:r>
              <a:rPr sz="12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1">
                <a:solidFill>
                  <a:srgbClr val="5B8CFF"/>
                </a:solidFill>
                <a:latin typeface="Geist"/>
              </a:rPr>
              <a:t>Без «бесплатных похвал» — </a:t>
            </a:r>
            <a:r>
              <a:rPr sz="1200" b="0">
                <a:solidFill>
                  <a:srgbClr val="8B98A5"/>
                </a:solidFill>
                <a:latin typeface="Geist"/>
              </a:rPr>
              <a:t>явный запрет самый действенный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Симулированное интервью: промпт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Модель становится конкретным человеком из вашей ICP — не ассистентом.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11091672" cy="2743200"/>
          </a:xfrm>
          <a:prstGeom prst="roundRect">
            <a:avLst/>
          </a:prstGeom>
          <a:solidFill>
            <a:srgbClr val="0E141C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148840"/>
            <a:ext cx="1063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Шаблон (в ape ask, профиль research)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569464"/>
            <a:ext cx="10588752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6EDF3"/>
                </a:solidFill>
                <a:latin typeface="JetBrains Mono"/>
              </a:rPr>
              <a:t>ape ask "Ты — &lt;описание из ICP-канвы целиком&gt;. Ты НЕ AI-ассистент, ты этот человек.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>  Отвечай как он: со своими сомнениями, ленью, готовыми отмазками.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>  Если вопрос неясен — переспрашивай. Если устал — скажи прямо. Не угождай интервьюеру.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>  Я — продакт-исследователь, задам 10 вопросов про &lt;проблемная область&gt;. Готов?"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/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5C6975"/>
                </a:solidFill>
                <a:latin typeface="JetBrains Mono"/>
              </a:rPr>
              <a:t># записываем токены и стоимость — это первая запись в cost-журнале (ape usage)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93776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8A5"/>
                </a:solidFill>
                <a:latin typeface="Geist"/>
              </a:rPr>
              <a:t>Ключ: «не угождай интервьюеру» + «со своими отмазками» — иначе получите ту же эхо-камеру, только в лицах. Симуляция ценна ровно настолько, насколько персонаж несговорчив.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Симуляция vs живое интервью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Симуляция — тренажёр, не замена. Вот граница.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011680"/>
          <a:ext cx="11091672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626864"/>
                <a:gridCol w="4636008"/>
              </a:tblGrid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5B8CFF"/>
                          </a:solidFill>
                          <a:latin typeface="JetBrains Mono"/>
                        </a:rPr>
                        <a:t/>
                      </a:r>
                    </a:p>
                  </a:txBody>
                  <a:tcPr anchor="ctr" marT="38100" marB="38100" marL="101600" marR="101600">
                    <a:solidFill>
                      <a:srgbClr val="1A22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E3B341"/>
                          </a:solidFill>
                          <a:latin typeface="JetBrains Mono"/>
                        </a:rPr>
                        <a:t>Симуляция (AI)</a:t>
                      </a:r>
                    </a:p>
                  </a:txBody>
                  <a:tcPr anchor="ctr" marT="38100" marB="38100" marL="101600" marR="101600">
                    <a:solidFill>
                      <a:srgbClr val="1A22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3FB950"/>
                          </a:solidFill>
                          <a:latin typeface="JetBrains Mono"/>
                        </a:rPr>
                        <a:t>Живое интервью</a:t>
                      </a:r>
                    </a:p>
                  </a:txBody>
                  <a:tcPr anchor="ctr" marT="38100" marB="38100" marL="101600" marR="101600">
                    <a:solidFill>
                      <a:srgbClr val="1A222E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Роль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Тренажёр: обкатать гайд, формулировки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Истина: реальные факты и боль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Что даёт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Быстро, дёшево, много итераций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Неожиданное — то, чего модель не выдаст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Риск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Эхо-камера, правдоподобная выдумка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Дольше, надо искать людей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Когда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ДО живого — подготовиться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ПОСЛЕ — проверить гипотезы</a:t>
                      </a:r>
                    </a:p>
                  </a:txBody>
                  <a:tcPr anchor="ctr" marT="38100" marB="38100" marL="101600" marR="101600">
                    <a:solidFill>
                      <a:srgbClr val="0B0F14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6EDF3"/>
                          </a:solidFill>
                          <a:latin typeface="Geist"/>
                        </a:rPr>
                        <a:t>Вывод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Гипотезы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8B98A5"/>
                          </a:solidFill>
                          <a:latin typeface="Geist"/>
                        </a:rPr>
                        <a:t>Подтверждение / опровержение</a:t>
                      </a:r>
                    </a:p>
                  </a:txBody>
                  <a:tcPr anchor="ctr" marT="38100" marB="38100" marL="101600" marR="101600">
                    <a:solidFill>
                      <a:srgbClr val="12182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975"/>
                </a:solidFill>
                <a:latin typeface="Geist"/>
              </a:rPr>
              <a:t>Между неделями 3 и 4: минимум одно ЖИВОЕ интервью (магистры «Управление инфраструктурой ВСМ» или ваш ICP).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Cost-журнал: первая запись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Cost с первой недели — принцип курса. Discovery тоже стоит денег.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5486400" cy="2926080"/>
          </a:xfrm>
          <a:prstGeom prst="roundRect">
            <a:avLst/>
          </a:prstGeom>
          <a:solidFill>
            <a:srgbClr val="0E141C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148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Смотрим расход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569464"/>
            <a:ext cx="49834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6EDF3"/>
                </a:solidFill>
                <a:latin typeface="JetBrains Mono"/>
              </a:rPr>
              <a:t>ape ask "...симуляция интервью..."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/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E6EDF3"/>
                </a:solidFill>
                <a:latin typeface="JetBrains Mono"/>
              </a:rPr>
              <a:t>ape usage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5C6975"/>
                </a:solidFill>
                <a:latin typeface="JetBrains Mono"/>
              </a:rPr>
              <a:t># → потрачено за неделю: X токенов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5C6975"/>
                </a:solidFill>
                <a:latin typeface="JetBrains Mono"/>
              </a:rPr>
              <a:t>#   ≈ Y ₽ (профиль research/DeepSeek)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5C6975"/>
                </a:solidFill>
                <a:latin typeface="JetBrains Mono"/>
              </a:rPr>
              <a:t>#   осталось из 25M: 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965960"/>
            <a:ext cx="5486400" cy="292608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21945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ЧТО ЗАПИСАТЬ В DECISION.MD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69748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0">
                <a:solidFill>
                  <a:srgbClr val="E6EDF3"/>
                </a:solidFill>
                <a:latin typeface="Geist"/>
              </a:rPr>
              <a:t>Сколько токенов ушло на discovery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0">
                <a:solidFill>
                  <a:srgbClr val="E6EDF3"/>
                </a:solidFill>
                <a:latin typeface="Geist"/>
              </a:rPr>
              <a:t>Во сколько ₽ это вылилось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0">
                <a:solidFill>
                  <a:srgbClr val="E6EDF3"/>
                </a:solidFill>
                <a:latin typeface="Geist"/>
              </a:rPr>
              <a:t>Профиль (research) и почему он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0">
                <a:solidFill>
                  <a:srgbClr val="E6EDF3"/>
                </a:solidFill>
                <a:latin typeface="Geist"/>
              </a:rPr>
              <a:t>Прикидка: сколько будет стоить на 100 интервью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1206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B98A5"/>
                </a:solidFill>
                <a:latin typeface="Geist"/>
              </a:rPr>
              <a:t>Смысл не в сумме (она копеечная), а в привычке: каждое действие с LLM имеет цену, и вы её видите с первого дня.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Практика и мост к неделе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11091672" cy="182880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НА ПАРЕ (30 МИН)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10515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0">
                <a:solidFill>
                  <a:srgbClr val="E6EDF3"/>
                </a:solidFill>
                <a:latin typeface="Geist"/>
              </a:rPr>
              <a:t>Запусти симуляцию интервью со своей ICP, 10 вопросов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0">
                <a:solidFill>
                  <a:srgbClr val="E6EDF3"/>
                </a:solidFill>
                <a:latin typeface="Geist"/>
              </a:rPr>
              <a:t>Прогони идею через devils-advocate, выпиши 3 слабых места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200" b="0">
                <a:solidFill>
                  <a:srgbClr val="E6EDF3"/>
                </a:solidFill>
                <a:latin typeface="Geist"/>
              </a:rPr>
              <a:t>Зафиксируй cost прогона (ape usage) — первая запись журнала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77639"/>
            <a:ext cx="11091672" cy="1874519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206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B8CFF"/>
                </a:solidFill>
                <a:latin typeface="Geist"/>
              </a:rPr>
              <a:t>Домашнее задание (нед. 3→4)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00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E6EDF3"/>
                </a:solidFill>
                <a:latin typeface="Geist"/>
              </a:rPr>
              <a:t>Провести минимум одно ЖИВОЕ интервью с доменным экспертом. В discovery/live-interview.md: инсайты, расхождения с симуляцией, цитаты. Отдельно: что живой сказал такого, чего симуляция не выдала.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